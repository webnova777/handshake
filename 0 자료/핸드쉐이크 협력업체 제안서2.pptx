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86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톤앤무드는 병원·치과·피부과 전문으로, 공간의 미묘한 감각을 디자인 언어로 풀어내는 회사입니다. 디자인을 중시하는 업체일수록 마감 후 노출 배선, 벽을 다시 뚫는 작업, 어울리지 않는 장비 배치에 민감합니다. 그래서 첫 장의 후킹은 "톤앤무드의 디자인을 지켜주는 협력사"로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톤앤무드의 목표를 WHY(원장님이 그린 톤과 무드), WHAT(적기 준공과 잔손·하자 제로), HOW(핸드쉐이크의 서포트) 순서로 보여주는 장입니다. 핸드쉐이크는 주인공이 아니라 톤앤무드의 목표를 돕는 역할이라는 점을 강조해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인테리어의 고충을 실제로 겪는 사람은 현장소장님입니다. 다섯 가지 모두 현장에서 흔히 겪는 일이라 공감을 얻는 장이고, 마지막 줄의 기기 제원표와 일정 공유가 다음 장부터 이어지는 해결책의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장의 2번(일정), 3번(기기 제원 오류) 문제에 대한 답입니다. 착공 즉시 소장님과 통화, 설계팀에 기기 제원표와 도면 전달, 납품 10일 전 원장님 CS 안내문까지 공사 전에 먼저 움직인다는 점을 강조해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장의 5번 문제(개원 후 공급범위 밖의 전화)에 대한 답입니다. 병원 문의는 인테리어업체가 아니라 핸드쉐이크로 바로 들어오고, 통신사·보안·가전은 제조사 AS와 연계해 종결까지 확인하며, 네트워크·PC는 핸드쉐이크가 원격 또는 방문으로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공무(안강훈 대표)가 인테리어 소통과 기기제원 송부를 맡고, 통신·보안·생활가전·렌탈·PC 품목마다 계약부터 AS까지 책임지는 담당자가 있습니다. PC 및 주변기기 사업본부는 자재부·시공부·AS부로 나뉘어 현장을 책임집니다.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제안서에서 가장 중요한 장입니다. 단가나 품목보다, 문제가 생겼을 때의 태도가 오래 가는 협력을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3" name="Image 0" descr="핸드쉐이크 로고"/>
          <p:cNvPicPr>
            <a:picLocks noChangeAspect="1"/>
          </p:cNvPicPr>
          <p:nvPr/>
        </p:nvPicPr>
        <p:blipFill>
          <a:blip r:embed="rId3"/>
          <a:srcRect t="-562" b="-562"/>
          <a:stretch/>
        </p:blipFill>
        <p:spPr>
          <a:xfrm>
            <a:off x="457200" y="5913107"/>
            <a:ext cx="2667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5500" y="5891543"/>
            <a:ext cx="18779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5500" y="6209043"/>
            <a:ext cx="1877941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6807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</a:t>
            </a: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안강훈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AHN KANG HOON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82975" y="5812830"/>
            <a:ext cx="0" cy="947275"/>
          </a:xfrm>
          <a:prstGeom prst="line">
            <a:avLst/>
          </a:prstGeom>
          <a:noFill/>
          <a:ln w="6350">
            <a:solidFill>
              <a:srgbClr val="1E3D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38033" y="5812830"/>
            <a:ext cx="39199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38033" y="6069343"/>
            <a:ext cx="391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[통신사 · 네트워크 · PC 및 복합기]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38033" y="6308064"/>
            <a:ext cx="391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[무인경비 · 출입제어 · 근태관리 · CCTV]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38033" y="6546784"/>
            <a:ext cx="391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가전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[생활가전·디스플레이 (사이니지 · LED월 CMS솔루션)]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02575" y="5834459"/>
            <a:ext cx="0" cy="904081"/>
          </a:xfrm>
          <a:prstGeom prst="line">
            <a:avLst/>
          </a:prstGeom>
          <a:noFill/>
          <a:ln w="6350">
            <a:solidFill>
              <a:srgbClr val="1E3D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7634" y="5834459"/>
            <a:ext cx="368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010-2505-8589  </a:t>
            </a: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050-4268-1609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57634" y="6073180"/>
            <a:ext cx="368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handshakeofficial@naver.com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57634" y="6311900"/>
            <a:ext cx="368448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서울시 서초구 효령로 304, 3014~3015호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(서초동, 국제전자센터)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800" y="660400"/>
            <a:ext cx="3327863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723900"/>
            <a:ext cx="300910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톤앤무드 김태형 대표님께 드리는 협력 제안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67663" y="723900"/>
            <a:ext cx="241344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Tone &amp; Mood × HAND SHAKE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58095" y="660400"/>
            <a:ext cx="262110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신뢰와 협력을 바탕으로</a:t>
            </a:r>
            <a:endParaRPr lang="en-US" sz="1500" dirty="0"/>
          </a:p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더 큰 가치를 함께 만들어갑니다.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2800" y="2978150"/>
            <a:ext cx="10883392" cy="1543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잔손 없는 인테리어,</a:t>
            </a:r>
            <a:endParaRPr lang="en-US" sz="5200" dirty="0"/>
          </a:p>
          <a:p>
            <a:pPr marL="0" indent="0" algn="l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적기 준공을 서포트해 드립니다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812800" y="4699397"/>
            <a:ext cx="10883392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톤앤무드가 완성한 톤과 무드를,</a:t>
            </a:r>
            <a:endParaRPr lang="en-US" sz="20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통신·보안·가전이 흐트러뜨리지 않도록 함께하겠습니다.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1874639" cy="309496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519039" cy="207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톤앤무드의 목표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22297"/>
            <a:ext cx="10883392" cy="44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24"/>
              </a:lnSpc>
              <a:buNone/>
            </a:pPr>
            <a:r>
              <a:rPr lang="en-US" sz="277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김태형 대표님의 목표에서 시작합니다</a:t>
            </a:r>
            <a:endParaRPr lang="en-US" sz="2770" dirty="0"/>
          </a:p>
        </p:txBody>
      </p:sp>
      <p:sp>
        <p:nvSpPr>
          <p:cNvPr id="5" name="Shape 3"/>
          <p:cNvSpPr/>
          <p:nvPr/>
        </p:nvSpPr>
        <p:spPr>
          <a:xfrm>
            <a:off x="812800" y="1823112"/>
            <a:ext cx="10566400" cy="1126927"/>
          </a:xfrm>
          <a:prstGeom prst="roundRect">
            <a:avLst>
              <a:gd name="adj" fmla="val 13524"/>
            </a:avLst>
          </a:prstGeom>
          <a:solidFill>
            <a:srgbClr val="0A2C69"/>
          </a:solidFill>
          <a:ln/>
        </p:spPr>
      </p:sp>
      <p:sp>
        <p:nvSpPr>
          <p:cNvPr id="6" name="Shape 4"/>
          <p:cNvSpPr/>
          <p:nvPr/>
        </p:nvSpPr>
        <p:spPr>
          <a:xfrm>
            <a:off x="1117600" y="2033191"/>
            <a:ext cx="659408" cy="289520"/>
          </a:xfrm>
          <a:prstGeom prst="roundRect">
            <a:avLst>
              <a:gd name="adj" fmla="val 50000"/>
            </a:avLst>
          </a:prstGeom>
          <a:solidFill>
            <a:srgbClr val="F8FAFD"/>
          </a:solidFill>
          <a:ln/>
        </p:spPr>
      </p:sp>
      <p:sp>
        <p:nvSpPr>
          <p:cNvPr id="7" name="Text 5"/>
          <p:cNvSpPr/>
          <p:nvPr/>
        </p:nvSpPr>
        <p:spPr>
          <a:xfrm>
            <a:off x="1244600" y="2071291"/>
            <a:ext cx="456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53208" y="2071291"/>
            <a:ext cx="152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톤앤무드가 지키려는 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7600" y="2380390"/>
            <a:ext cx="10255504" cy="366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4"/>
              </a:lnSpc>
              <a:buNone/>
            </a:pPr>
            <a:r>
              <a:rPr lang="en-US" sz="1946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원장님이 개원하며 그린 </a:t>
            </a:r>
            <a:r>
              <a:rPr lang="en-US" sz="1946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톤과 무드</a:t>
            </a:r>
            <a:r>
              <a:rPr lang="en-US" sz="1946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그대로 공간에 담아내는 것</a:t>
            </a:r>
            <a:endParaRPr lang="en-US" sz="1946" dirty="0"/>
          </a:p>
        </p:txBody>
      </p:sp>
      <p:sp>
        <p:nvSpPr>
          <p:cNvPr id="10" name="Shape 8"/>
          <p:cNvSpPr/>
          <p:nvPr/>
        </p:nvSpPr>
        <p:spPr>
          <a:xfrm>
            <a:off x="812800" y="3211579"/>
            <a:ext cx="766233" cy="289520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3249679"/>
            <a:ext cx="563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55233" y="3249679"/>
            <a:ext cx="20199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그러려면 반드시 필요한 두 가지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3588015"/>
            <a:ext cx="5175250" cy="978628"/>
          </a:xfrm>
          <a:prstGeom prst="roundRect">
            <a:avLst>
              <a:gd name="adj" fmla="val 1524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1033" y="375728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5" name="Text 13"/>
          <p:cNvSpPr/>
          <p:nvPr/>
        </p:nvSpPr>
        <p:spPr>
          <a:xfrm>
            <a:off x="1155965" y="3828389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3633" y="3752255"/>
            <a:ext cx="12422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적기 준공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71033" y="4154091"/>
            <a:ext cx="4805087" cy="23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3"/>
              </a:lnSpc>
              <a:buNone/>
            </a:pPr>
            <a:r>
              <a:rPr lang="en-US" sz="1116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약속한 날짜에 병원 문을 열 수 있게</a:t>
            </a:r>
            <a:endParaRPr lang="en-US" sz="1116" dirty="0"/>
          </a:p>
        </p:txBody>
      </p:sp>
      <p:sp>
        <p:nvSpPr>
          <p:cNvPr id="18" name="Shape 16"/>
          <p:cNvSpPr/>
          <p:nvPr/>
        </p:nvSpPr>
        <p:spPr>
          <a:xfrm>
            <a:off x="6200775" y="3588015"/>
            <a:ext cx="5175250" cy="978628"/>
          </a:xfrm>
          <a:prstGeom prst="roundRect">
            <a:avLst>
              <a:gd name="adj" fmla="val 1524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833" y="375728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0" name="Text 18"/>
          <p:cNvSpPr/>
          <p:nvPr/>
        </p:nvSpPr>
        <p:spPr>
          <a:xfrm>
            <a:off x="6540765" y="3828389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8434" y="3752255"/>
            <a:ext cx="19964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잔손·하자 제로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55833" y="4154091"/>
            <a:ext cx="4805087" cy="23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3"/>
              </a:lnSpc>
              <a:buNone/>
            </a:pPr>
            <a:r>
              <a:rPr lang="en-US" sz="1116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원장님이 인수하는 날, 다시 부를 일 없게</a:t>
            </a:r>
            <a:endParaRPr lang="en-US" sz="1116" dirty="0"/>
          </a:p>
        </p:txBody>
      </p:sp>
      <p:sp>
        <p:nvSpPr>
          <p:cNvPr id="23" name="Shape 21"/>
          <p:cNvSpPr/>
          <p:nvPr/>
        </p:nvSpPr>
        <p:spPr>
          <a:xfrm>
            <a:off x="819150" y="4855567"/>
            <a:ext cx="10553700" cy="624483"/>
          </a:xfrm>
          <a:prstGeom prst="roundRect">
            <a:avLst>
              <a:gd name="adj" fmla="val 23387"/>
            </a:avLst>
          </a:prstGeom>
          <a:solidFill>
            <a:srgbClr val="FBFBFB"/>
          </a:solidFill>
          <a:ln w="12700">
            <a:solidFill>
              <a:srgbClr val="1748B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9500" y="5023048"/>
            <a:ext cx="682559" cy="2895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5" name="Text 23"/>
          <p:cNvSpPr/>
          <p:nvPr/>
        </p:nvSpPr>
        <p:spPr>
          <a:xfrm>
            <a:off x="1206500" y="5061148"/>
            <a:ext cx="479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14459" y="5024967"/>
            <a:ext cx="680934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핸드쉐이크는 통신·보안·가전 협력업체로서, 현장에서 이 목표를 함께 서포트합니다.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28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93800" y="6249062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93800" y="6471312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240044" y="6344907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1570897" cy="356658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215297" cy="255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현장의 고충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69459"/>
            <a:ext cx="10883392" cy="511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16"/>
              </a:lnSpc>
              <a:buNone/>
            </a:pPr>
            <a:r>
              <a:rPr lang="en-US" sz="318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힘든 분은 현장소장님입니다</a:t>
            </a:r>
            <a:endParaRPr lang="en-US" sz="3180" dirty="0"/>
          </a:p>
        </p:txBody>
      </p:sp>
      <p:sp>
        <p:nvSpPr>
          <p:cNvPr id="5" name="Shape 3"/>
          <p:cNvSpPr/>
          <p:nvPr/>
        </p:nvSpPr>
        <p:spPr>
          <a:xfrm>
            <a:off x="815975" y="1836077"/>
            <a:ext cx="10560050" cy="508198"/>
          </a:xfrm>
          <a:prstGeom prst="roundRect">
            <a:avLst>
              <a:gd name="adj" fmla="val 2436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233" y="1912409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7" name="Text 5"/>
          <p:cNvSpPr/>
          <p:nvPr/>
        </p:nvSpPr>
        <p:spPr>
          <a:xfrm>
            <a:off x="1105165" y="1983516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3633" y="1956792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업체의 따로 오는 연락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98433" y="1979679"/>
            <a:ext cx="697653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통신사 · 네트워크 · PC · 보안 · CCTV · 가전 · 렌탈 · 디스플레이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414126"/>
            <a:ext cx="10560050" cy="508132"/>
          </a:xfrm>
          <a:prstGeom prst="roundRect">
            <a:avLst>
              <a:gd name="adj" fmla="val 24369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0233" y="249039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2" name="Text 10"/>
          <p:cNvSpPr/>
          <p:nvPr/>
        </p:nvSpPr>
        <p:spPr>
          <a:xfrm>
            <a:off x="1105165" y="2561498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3633" y="2534841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맞춰지지 않는 일정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98433" y="2557728"/>
            <a:ext cx="697653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· 목공 · 천장 · 도배 · 페인트 공정에 업체가 협조하지 않습니다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75" y="2992107"/>
            <a:ext cx="10560050" cy="508198"/>
          </a:xfrm>
          <a:prstGeom prst="roundRect">
            <a:avLst>
              <a:gd name="adj" fmla="val 2436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233" y="3068439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7" name="Text 15"/>
          <p:cNvSpPr/>
          <p:nvPr/>
        </p:nvSpPr>
        <p:spPr>
          <a:xfrm>
            <a:off x="1105165" y="3139546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3633" y="3112824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되풀이되는 잔손·하자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8433" y="3135709"/>
            <a:ext cx="697653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제원 오류와 어긋난 시공 타이밍으로 다시 뚫고, 긁고, 더럽힙니다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570156"/>
            <a:ext cx="10560050" cy="508132"/>
          </a:xfrm>
          <a:prstGeom prst="roundRect">
            <a:avLst>
              <a:gd name="adj" fmla="val 24369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233" y="364642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2" name="Text 20"/>
          <p:cNvSpPr/>
          <p:nvPr/>
        </p:nvSpPr>
        <p:spPr>
          <a:xfrm>
            <a:off x="1105165" y="3717528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3633" y="3690872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준공청소 후 남는 폐기물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98433" y="3713758"/>
            <a:ext cx="697653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청소 뒤에 들어와 박스를 쌓고, 그대로 방지합니다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975" y="4148137"/>
            <a:ext cx="10560050" cy="508198"/>
          </a:xfrm>
          <a:prstGeom prst="roundRect">
            <a:avLst>
              <a:gd name="adj" fmla="val 2436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233" y="422447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7" name="Text 25"/>
          <p:cNvSpPr/>
          <p:nvPr/>
        </p:nvSpPr>
        <p:spPr>
          <a:xfrm>
            <a:off x="1105165" y="4295577"/>
            <a:ext cx="236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3633" y="4268854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공급범위 밖의 전화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98433" y="4291741"/>
            <a:ext cx="697653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개원 후 “네트워크가 안 돼요”, “인터넷이 끊겨요”가 소장님께 옵니다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4837311"/>
            <a:ext cx="10566400" cy="649089"/>
          </a:xfrm>
          <a:prstGeom prst="roundRect">
            <a:avLst>
              <a:gd name="adj" fmla="val 23479"/>
            </a:avLst>
          </a:prstGeom>
          <a:solidFill>
            <a:srgbClr val="0A2C69"/>
          </a:solidFill>
          <a:ln/>
        </p:spPr>
      </p:sp>
      <p:sp>
        <p:nvSpPr>
          <p:cNvPr id="31" name="Text 29"/>
          <p:cNvSpPr/>
          <p:nvPr/>
        </p:nvSpPr>
        <p:spPr>
          <a:xfrm>
            <a:off x="3507846" y="5001882"/>
            <a:ext cx="5331598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 해결의 열쇠는 소통(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제원 및</a:t>
            </a: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공유)</a:t>
            </a: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33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93800" y="6249062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93800" y="6471312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240044" y="6344907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2026576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67097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핸드쉐이크의 역할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5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소장님은 핸드쉐이크 한 곳만 소통하시면 됩니다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941116"/>
            <a:ext cx="3414183" cy="1367367"/>
          </a:xfrm>
          <a:prstGeom prst="roundRect">
            <a:avLst>
              <a:gd name="adj" fmla="val 10913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383" y="2202524"/>
            <a:ext cx="495300" cy="495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748B1"/>
            </a:solidFill>
            <a:prstDash val="solid"/>
          </a:ln>
        </p:spPr>
      </p:sp>
      <p:pic>
        <p:nvPicPr>
          <p:cNvPr id="7" name="Image 0" descr="통신 아이콘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5333" y="2310474"/>
            <a:ext cx="279400" cy="27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6033" y="2282561"/>
            <a:ext cx="564952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1033" y="2805774"/>
            <a:ext cx="299118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통신사 · 네트워크 · PC 및 주변기기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8908" y="1941116"/>
            <a:ext cx="3414183" cy="1367367"/>
          </a:xfrm>
          <a:prstGeom prst="roundRect">
            <a:avLst>
              <a:gd name="adj" fmla="val 10913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0317" y="2202524"/>
            <a:ext cx="495300" cy="495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748B1"/>
            </a:solidFill>
            <a:prstDash val="solid"/>
          </a:ln>
        </p:spPr>
      </p:sp>
      <p:pic>
        <p:nvPicPr>
          <p:cNvPr id="12" name="Image 1" descr="보안 아이콘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8267" y="2310474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8967" y="2282561"/>
            <a:ext cx="564952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43967" y="2805774"/>
            <a:ext cx="299118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무인경비 · 출입제어· CCTV  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61842" y="1941116"/>
            <a:ext cx="3414183" cy="1367367"/>
          </a:xfrm>
          <a:prstGeom prst="roundRect">
            <a:avLst>
              <a:gd name="adj" fmla="val 10913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3250" y="2202524"/>
            <a:ext cx="495300" cy="495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748B1"/>
            </a:solidFill>
            <a:prstDash val="solid"/>
          </a:ln>
        </p:spPr>
      </p:sp>
      <p:pic>
        <p:nvPicPr>
          <p:cNvPr id="17" name="Image 2" descr="가전 아이콘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31200" y="2310474"/>
            <a:ext cx="279400" cy="279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51900" y="2282561"/>
            <a:ext cx="564952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가전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216900" y="2805774"/>
            <a:ext cx="299118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생활가전 · 디스플레이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2800" y="3591058"/>
            <a:ext cx="10566400" cy="726414"/>
          </a:xfrm>
          <a:prstGeom prst="roundRect">
            <a:avLst>
              <a:gd name="adj" fmla="val 20980"/>
            </a:avLst>
          </a:prstGeom>
          <a:solidFill>
            <a:srgbClr val="0A2C69"/>
          </a:solidFill>
          <a:ln/>
        </p:spPr>
      </p:sp>
      <p:sp>
        <p:nvSpPr>
          <p:cNvPr id="21" name="Text 16"/>
          <p:cNvSpPr/>
          <p:nvPr/>
        </p:nvSpPr>
        <p:spPr>
          <a:xfrm>
            <a:off x="2193660" y="3794258"/>
            <a:ext cx="134633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 창구 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1곳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641380" y="3794258"/>
            <a:ext cx="1083667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일정표 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1장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826368" y="3794258"/>
            <a:ext cx="1222706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담당 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1곳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25" name="Image 3" descr="핸드쉐이크 로고"/>
          <p:cNvPicPr>
            <a:picLocks noChangeAspect="1"/>
          </p:cNvPicPr>
          <p:nvPr/>
        </p:nvPicPr>
        <p:blipFill>
          <a:blip r:embed="rId6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2215952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86383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현장일정에 맞춘 소통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5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준공청소일(D-day)을 기준으로 실행합니다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61741"/>
            <a:ext cx="914665" cy="2895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1899841"/>
            <a:ext cx="7114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03665" y="1899841"/>
            <a:ext cx="16969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공사 전에 먼저 소통합니다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243336"/>
            <a:ext cx="3414183" cy="1386351"/>
          </a:xfrm>
          <a:prstGeom prst="roundRect">
            <a:avLst>
              <a:gd name="adj" fmla="val 10764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233" y="2422196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착공 즉시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0233" y="2699017"/>
            <a:ext cx="309583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현장소장님과 품목별 사전 협의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0233" y="2993628"/>
            <a:ext cx="309583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착공하면 바로 통화해, 품목별로 소통이 필요한 부분을 미리 정리합니다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8908" y="2243336"/>
            <a:ext cx="3414183" cy="1386351"/>
          </a:xfrm>
          <a:prstGeom prst="roundRect">
            <a:avLst>
              <a:gd name="adj" fmla="val 10764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3167" y="2422196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3167" y="2699017"/>
            <a:ext cx="309583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제원표 · 도면 전달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3167" y="2993628"/>
            <a:ext cx="309583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제원표와 제원이 표시된 도면을 인테리어 설계팀에 전달합니다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61842" y="2243336"/>
            <a:ext cx="3414183" cy="1386351"/>
          </a:xfrm>
          <a:prstGeom prst="roundRect">
            <a:avLst>
              <a:gd name="adj" fmla="val 10764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6100" y="2422196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 10일 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66100" y="2699017"/>
            <a:ext cx="309583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원장님께 CS 안내문 발송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6100" y="2993628"/>
            <a:ext cx="309583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 일정과 준비사항을 원장님께 미리 안내해 현장 혼선을 막습니다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836064"/>
            <a:ext cx="899583" cy="2895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1" name="Text 19"/>
          <p:cNvSpPr/>
          <p:nvPr/>
        </p:nvSpPr>
        <p:spPr>
          <a:xfrm>
            <a:off x="939800" y="3874164"/>
            <a:ext cx="6963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8583" y="3874164"/>
            <a:ext cx="2093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준공청소일 기준으로 실행합니다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975" y="4217659"/>
            <a:ext cx="2025650" cy="1249230"/>
          </a:xfrm>
          <a:prstGeom prst="roundRect">
            <a:avLst>
              <a:gd name="adj" fmla="val 1194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433" y="4396516"/>
            <a:ext cx="177029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협의일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9433" y="4792731"/>
            <a:ext cx="177029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전 배선작업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· 보안 · 정수기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49575" y="4217659"/>
            <a:ext cx="2025650" cy="1249230"/>
          </a:xfrm>
          <a:prstGeom prst="roundRect">
            <a:avLst>
              <a:gd name="adj" fmla="val 1194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3033" y="4396516"/>
            <a:ext cx="177029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103033" y="4792731"/>
            <a:ext cx="177029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CCTV ·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출입리더기 부착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83175" y="4217659"/>
            <a:ext cx="2025650" cy="1249230"/>
          </a:xfrm>
          <a:prstGeom prst="roundRect">
            <a:avLst>
              <a:gd name="adj" fmla="val 11945"/>
            </a:avLst>
          </a:prstGeom>
          <a:solidFill>
            <a:srgbClr val="0A2C69"/>
          </a:solidFill>
          <a:ln w="6350">
            <a:solidFill>
              <a:srgbClr val="0A2C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6633" y="4396516"/>
            <a:ext cx="177029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6633" y="4792731"/>
            <a:ext cx="177029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준공청소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16775" y="4217659"/>
            <a:ext cx="2025650" cy="1249230"/>
          </a:xfrm>
          <a:prstGeom prst="roundRect">
            <a:avLst>
              <a:gd name="adj" fmla="val 1194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0234" y="4396516"/>
            <a:ext cx="177029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70234" y="4792731"/>
            <a:ext cx="177029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무인경비 개시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· 네트워크 구축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50375" y="4217659"/>
            <a:ext cx="2025650" cy="1249230"/>
          </a:xfrm>
          <a:prstGeom prst="roundRect">
            <a:avLst>
              <a:gd name="adj" fmla="val 1194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3834" y="4396516"/>
            <a:ext cx="177029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03834" y="4792731"/>
            <a:ext cx="177029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및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가전 입고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39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2101519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74597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잔손 하자 없는 시공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5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마감을 건드리지 않는 것이 원칙입니다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941116"/>
            <a:ext cx="3380317" cy="2277798"/>
          </a:xfrm>
          <a:prstGeom prst="roundRect">
            <a:avLst>
              <a:gd name="adj" fmla="val 6551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1033" y="21961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7" name="Text 5"/>
          <p:cNvSpPr/>
          <p:nvPr/>
        </p:nvSpPr>
        <p:spPr>
          <a:xfrm>
            <a:off x="1173626" y="22838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033" y="27041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전 선배선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1033" y="3110576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도면과 공정표를 먼저 받아 천장·벽 마감 전에 배선과 배관 위치를 협의합니다.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5842" y="1941116"/>
            <a:ext cx="3380317" cy="2277798"/>
          </a:xfrm>
          <a:prstGeom prst="roundRect">
            <a:avLst>
              <a:gd name="adj" fmla="val 6551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0900" y="21961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63492" y="22838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0900" y="27041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마감면 보호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0900" y="3110576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마감이 끝난 면은 다시 뚫지 않는 것이 원칙입니다. 부득이한 경우 사전 협의 후 복구까지 책임집니다.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5709" y="1941116"/>
            <a:ext cx="3380317" cy="2277798"/>
          </a:xfrm>
          <a:prstGeom prst="roundRect">
            <a:avLst>
              <a:gd name="adj" fmla="val 6551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767" y="21961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7" name="Text 15"/>
          <p:cNvSpPr/>
          <p:nvPr/>
        </p:nvSpPr>
        <p:spPr>
          <a:xfrm>
            <a:off x="8353359" y="22838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0767" y="27041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 정리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50767" y="3110576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박스와 폐기물은 작업 당일 수거해, 준공청소에 짐이 되지 않게 합니다.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21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1418960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0633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준공 이후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5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개원 후 공급범위 외 AS 전화를 받지 않게 해드립니다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064941"/>
            <a:ext cx="2286000" cy="939800"/>
          </a:xfrm>
          <a:prstGeom prst="roundRect">
            <a:avLst>
              <a:gd name="adj" fmla="val 13514"/>
            </a:avLst>
          </a:prstGeom>
          <a:solidFill>
            <a:srgbClr val="E3EC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530"/>
            <a:ext cx="19359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통신사 · 보안 · 가전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584980"/>
            <a:ext cx="193598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제조사 AS 연계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4375" y="2068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6233" y="2415118"/>
            <a:ext cx="118533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접수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7400" y="2392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6175" y="2068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0A2C69"/>
          </a:solidFill>
          <a:ln w="6350">
            <a:solidFill>
              <a:srgbClr val="0A2C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8033" y="2415118"/>
            <a:ext cx="118533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핸드쉐이크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9200" y="2392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57975" y="2068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9834" y="2295460"/>
            <a:ext cx="1185333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제조사</a:t>
            </a:r>
            <a:endParaRPr lang="en-US" sz="1300" dirty="0"/>
          </a:p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부서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2392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59775" y="2068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1634" y="2295460"/>
            <a:ext cx="1185333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</a:t>
            </a:r>
            <a:endParaRPr lang="en-US" sz="1300" dirty="0"/>
          </a:p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완료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02800" y="2392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61575" y="2068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0A2C69"/>
          </a:solidFill>
          <a:ln w="6350">
            <a:solidFill>
              <a:srgbClr val="0A2C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434" y="2295460"/>
            <a:ext cx="1185333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핸드쉐이크</a:t>
            </a:r>
            <a:endParaRPr lang="en-US" sz="1300" dirty="0"/>
          </a:p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확인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3207941"/>
            <a:ext cx="2286000" cy="939800"/>
          </a:xfrm>
          <a:prstGeom prst="roundRect">
            <a:avLst>
              <a:gd name="adj" fmla="val 13514"/>
            </a:avLst>
          </a:prstGeom>
          <a:solidFill>
            <a:srgbClr val="E3E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3429530"/>
            <a:ext cx="19359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· PC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6000" y="3727980"/>
            <a:ext cx="193598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핸드쉐이크 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54375" y="3211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6233" y="3558118"/>
            <a:ext cx="118533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접수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7400" y="3535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56175" y="3211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0A2C69"/>
          </a:solidFill>
          <a:ln w="6350">
            <a:solidFill>
              <a:srgbClr val="0A2C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8033" y="3558118"/>
            <a:ext cx="118533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핸드쉐이크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99200" y="3535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657975" y="3211116"/>
            <a:ext cx="1289050" cy="933450"/>
          </a:xfrm>
          <a:prstGeom prst="roundRect">
            <a:avLst>
              <a:gd name="adj" fmla="val 13265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9834" y="3558118"/>
            <a:ext cx="118533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부서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3535629"/>
            <a:ext cx="30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9775" y="3211116"/>
            <a:ext cx="2990850" cy="933450"/>
          </a:xfrm>
          <a:prstGeom prst="roundRect">
            <a:avLst>
              <a:gd name="adj" fmla="val 13265"/>
            </a:avLst>
          </a:prstGeom>
          <a:solidFill>
            <a:srgbClr val="E3ECFF"/>
          </a:solidFill>
          <a:ln w="6350">
            <a:solidFill>
              <a:srgbClr val="1748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489" y="3558118"/>
            <a:ext cx="2921423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또는 방문 처리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37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1874639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22300"/>
            <a:ext cx="151903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핸드쉐이크 조직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14439" y="631165"/>
            <a:ext cx="27237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08 기준 · 관리 및 PC 사업본부 발췌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1031215"/>
            <a:ext cx="10883392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품목마다 전담 실무자가 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5975" y="1600795"/>
            <a:ext cx="2025650" cy="826294"/>
          </a:xfrm>
          <a:prstGeom prst="roundRect">
            <a:avLst>
              <a:gd name="adj" fmla="val 14986"/>
            </a:avLst>
          </a:prstGeom>
          <a:solidFill>
            <a:srgbClr val="0A2C69"/>
          </a:solidFill>
          <a:ln w="6350">
            <a:solidFill>
              <a:srgbClr val="0A2C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433" y="1755511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F8FAFD"/>
          </a:solidFill>
          <a:ln/>
        </p:spPr>
      </p:sp>
      <p:sp>
        <p:nvSpPr>
          <p:cNvPr id="8" name="Text 6"/>
          <p:cNvSpPr/>
          <p:nvPr/>
        </p:nvSpPr>
        <p:spPr>
          <a:xfrm>
            <a:off x="1058333" y="1768211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C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3892" y="1741556"/>
            <a:ext cx="5765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안강훈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433" y="2071756"/>
            <a:ext cx="1770295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공무 · 인테리어 소통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49575" y="1600795"/>
            <a:ext cx="2025650" cy="826294"/>
          </a:xfrm>
          <a:prstGeom prst="roundRect">
            <a:avLst>
              <a:gd name="adj" fmla="val 1498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3033" y="1755511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91933" y="1768211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7492" y="1741556"/>
            <a:ext cx="5765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3033" y="2071756"/>
            <a:ext cx="1770295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83175" y="1600795"/>
            <a:ext cx="2025650" cy="826294"/>
          </a:xfrm>
          <a:prstGeom prst="roundRect">
            <a:avLst>
              <a:gd name="adj" fmla="val 1498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6633" y="1755511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25533" y="1768211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71092" y="1741556"/>
            <a:ext cx="5765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36633" y="2071756"/>
            <a:ext cx="1770295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16775" y="1600795"/>
            <a:ext cx="2025650" cy="826294"/>
          </a:xfrm>
          <a:prstGeom prst="roundRect">
            <a:avLst>
              <a:gd name="adj" fmla="val 1498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234" y="1755511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59134" y="1768211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4692" y="1741556"/>
            <a:ext cx="5765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김미영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70234" y="2071756"/>
            <a:ext cx="1770295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생활가전 · 렌탈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50375" y="1600795"/>
            <a:ext cx="2025650" cy="826294"/>
          </a:xfrm>
          <a:prstGeom prst="roundRect">
            <a:avLst>
              <a:gd name="adj" fmla="val 14986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3834" y="1755511"/>
            <a:ext cx="59848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28" name="Text 26"/>
          <p:cNvSpPr/>
          <p:nvPr/>
        </p:nvSpPr>
        <p:spPr>
          <a:xfrm>
            <a:off x="9592734" y="1768211"/>
            <a:ext cx="471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본부장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78521" y="1741556"/>
            <a:ext cx="5765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채승훈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03834" y="2071756"/>
            <a:ext cx="1770295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및 주변기기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2800" y="24937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 담당자는 계약서 작성부터 발주 · 설치 · 잔손 · AS까지, 공무는 기기제원 송부 · 납품정보 수령 · 물량확정을 맡습니다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2846784"/>
            <a:ext cx="10566400" cy="2438135"/>
          </a:xfrm>
          <a:prstGeom prst="roundRect">
            <a:avLst>
              <a:gd name="adj" fmla="val 6251"/>
            </a:avLst>
          </a:prstGeom>
          <a:solidFill>
            <a:srgbClr val="E3EC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2986484"/>
            <a:ext cx="10464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및 주변기기 사업본부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16000" y="3306499"/>
            <a:ext cx="674688" cy="2641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3331899"/>
            <a:ext cx="471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자재부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6000" y="3646819"/>
            <a:ext cx="59848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04900" y="3659519"/>
            <a:ext cx="471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본부장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90688" y="3650590"/>
            <a:ext cx="50647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채승훈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22566" y="3659519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16000" y="3961740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900" y="3974440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50458" y="3965510"/>
            <a:ext cx="50647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오은규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082337" y="3974440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조립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10000" y="3306499"/>
            <a:ext cx="674688" cy="2641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45" name="Text 43"/>
          <p:cNvSpPr/>
          <p:nvPr/>
        </p:nvSpPr>
        <p:spPr>
          <a:xfrm>
            <a:off x="3937000" y="3331899"/>
            <a:ext cx="471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시공부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10000" y="3646819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47" name="Text 45"/>
          <p:cNvSpPr/>
          <p:nvPr/>
        </p:nvSpPr>
        <p:spPr>
          <a:xfrm>
            <a:off x="3898900" y="3659519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44458" y="3650590"/>
            <a:ext cx="5842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추영길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54058" y="3659519"/>
            <a:ext cx="353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· PC 설치 AS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10000" y="3961740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51" name="Text 49"/>
          <p:cNvSpPr/>
          <p:nvPr/>
        </p:nvSpPr>
        <p:spPr>
          <a:xfrm>
            <a:off x="3898900" y="3974440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344458" y="3965510"/>
            <a:ext cx="5842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손병택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54058" y="3974440"/>
            <a:ext cx="353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· PC 설치 AS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810000" y="4276663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55" name="Text 53"/>
          <p:cNvSpPr/>
          <p:nvPr/>
        </p:nvSpPr>
        <p:spPr>
          <a:xfrm>
            <a:off x="3898900" y="4289363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344458" y="4280433"/>
            <a:ext cx="5842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문용광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54058" y="4289363"/>
            <a:ext cx="353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· PC 설치 AS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810000" y="4591583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59" name="Text 57"/>
          <p:cNvSpPr/>
          <p:nvPr/>
        </p:nvSpPr>
        <p:spPr>
          <a:xfrm>
            <a:off x="3898900" y="4604283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344458" y="4595354"/>
            <a:ext cx="5842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허준석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954058" y="4604283"/>
            <a:ext cx="353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설치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810000" y="4906504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63" name="Text 61"/>
          <p:cNvSpPr/>
          <p:nvPr/>
        </p:nvSpPr>
        <p:spPr>
          <a:xfrm>
            <a:off x="3898900" y="4919204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344458" y="4910274"/>
            <a:ext cx="5842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구양섭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954058" y="4919204"/>
            <a:ext cx="353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CMS 설치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85200" y="3306499"/>
            <a:ext cx="592204" cy="2641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67" name="Text 65"/>
          <p:cNvSpPr/>
          <p:nvPr/>
        </p:nvSpPr>
        <p:spPr>
          <a:xfrm>
            <a:off x="8712200" y="3331899"/>
            <a:ext cx="3890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AS부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585200" y="3646819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69" name="Text 67"/>
          <p:cNvSpPr/>
          <p:nvPr/>
        </p:nvSpPr>
        <p:spPr>
          <a:xfrm>
            <a:off x="8674100" y="3659519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19659" y="3650590"/>
            <a:ext cx="50647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차병권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9651537" y="3659519"/>
            <a:ext cx="5488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관리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585200" y="3961740"/>
            <a:ext cx="458258" cy="23872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/>
        </p:spPr>
      </p:sp>
      <p:sp>
        <p:nvSpPr>
          <p:cNvPr id="73" name="Text 71"/>
          <p:cNvSpPr/>
          <p:nvPr/>
        </p:nvSpPr>
        <p:spPr>
          <a:xfrm>
            <a:off x="8674100" y="3974440"/>
            <a:ext cx="33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119659" y="3965510"/>
            <a:ext cx="50647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유혁상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651537" y="3974440"/>
            <a:ext cx="5488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관리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77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62150"/>
          </a:solidFill>
          <a:ln/>
        </p:spPr>
      </p:sp>
      <p:pic>
        <p:nvPicPr>
          <p:cNvPr id="3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2800" y="1143000"/>
            <a:ext cx="1760273" cy="355600"/>
          </a:xfrm>
          <a:prstGeom prst="roundRect">
            <a:avLst>
              <a:gd name="adj" fmla="val 50000"/>
            </a:avLst>
          </a:prstGeom>
          <a:solidFill>
            <a:srgbClr val="F8FAFD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1206500"/>
            <a:ext cx="14046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C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· 같은 팀의 약속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1784350"/>
            <a:ext cx="10883392" cy="1214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 생기면,</a:t>
            </a:r>
            <a:endParaRPr lang="en-US" sz="3600" dirty="0"/>
          </a:p>
          <a:p>
            <a:pPr marL="0" indent="0" algn="l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시비를 가리지 않고 함께 해결합니다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12800" y="3700584"/>
            <a:ext cx="10883392" cy="675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하는 일이라 현장에서는 예상치 못한 일이 생길 수 있습니다.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그때 핸드쉐이크는 책임을 따지기보다, 같은 팀으로서 먼저 </a:t>
            </a:r>
            <a:r>
              <a:rPr lang="en-US" sz="1600" dirty="0" err="1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해결에</a:t>
            </a:r>
            <a:r>
              <a:rPr lang="en-US" sz="16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</a:t>
            </a:r>
            <a:r>
              <a:rPr lang="ko-KR" altLang="en-US" sz="1600" dirty="0" err="1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서는자세로</a:t>
            </a:r>
            <a:r>
              <a:rPr lang="ko-KR" altLang="en-US" sz="16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임합니다</a:t>
            </a:r>
            <a:r>
              <a:rPr lang="en-US" sz="16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1570897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21529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· 함께한 현장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8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현장에서 협력하였습니다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937941"/>
            <a:ext cx="5537200" cy="3548459"/>
          </a:xfrm>
          <a:prstGeom prst="roundRect">
            <a:avLst>
              <a:gd name="adj" fmla="val 4295"/>
            </a:avLst>
          </a:prstGeom>
          <a:solidFill>
            <a:srgbClr val="0A2C69"/>
          </a:solidFill>
          <a:ln/>
        </p:spPr>
      </p:sp>
      <p:sp>
        <p:nvSpPr>
          <p:cNvPr id="6" name="Shape 4"/>
          <p:cNvSpPr/>
          <p:nvPr/>
        </p:nvSpPr>
        <p:spPr>
          <a:xfrm>
            <a:off x="1168400" y="3182609"/>
            <a:ext cx="1051454" cy="358114"/>
          </a:xfrm>
          <a:prstGeom prst="roundRect">
            <a:avLst>
              <a:gd name="adj" fmla="val 50000"/>
            </a:avLst>
          </a:prstGeom>
          <a:solidFill>
            <a:srgbClr val="F8FAF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46109"/>
            <a:ext cx="69585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C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사례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8400" y="3693120"/>
            <a:ext cx="4970780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타토아의원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556375" y="1941116"/>
            <a:ext cx="4819650" cy="1691680"/>
          </a:xfrm>
          <a:prstGeom prst="roundRect">
            <a:avLst>
              <a:gd name="adj" fmla="val 8821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62234" y="2604095"/>
            <a:ext cx="433417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리엣의원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56375" y="3791545"/>
            <a:ext cx="4819650" cy="1691680"/>
          </a:xfrm>
          <a:prstGeom prst="roundRect">
            <a:avLst>
              <a:gd name="adj" fmla="val 8821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2234" y="4454525"/>
            <a:ext cx="433417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AIVE의원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14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60400"/>
            <a:ext cx="1418960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23900"/>
            <a:ext cx="10633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· 협력 방식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170918"/>
            <a:ext cx="10883392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프로세스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941116"/>
            <a:ext cx="2005277" cy="1703917"/>
          </a:xfrm>
          <a:prstGeom prst="roundRect">
            <a:avLst>
              <a:gd name="adj" fmla="val 875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4833" y="21453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7" name="Text 5"/>
          <p:cNvSpPr/>
          <p:nvPr/>
        </p:nvSpPr>
        <p:spPr>
          <a:xfrm>
            <a:off x="1097426" y="22330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4833" y="2653376"/>
            <a:ext cx="1698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4833" y="2983576"/>
            <a:ext cx="16983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제휴서 작성 및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협력업체 등록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54602" y="1941116"/>
            <a:ext cx="2005343" cy="1703917"/>
          </a:xfrm>
          <a:prstGeom prst="roundRect">
            <a:avLst>
              <a:gd name="adj" fmla="val 875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3460" y="21453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2" name="Text 10"/>
          <p:cNvSpPr/>
          <p:nvPr/>
        </p:nvSpPr>
        <p:spPr>
          <a:xfrm>
            <a:off x="3236053" y="22330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33460" y="2653376"/>
            <a:ext cx="1698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33460" y="2983576"/>
            <a:ext cx="16984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원장님 연락처 및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착공 일정 송부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93295" y="1941116"/>
            <a:ext cx="2005343" cy="1703917"/>
          </a:xfrm>
          <a:prstGeom prst="roundRect">
            <a:avLst>
              <a:gd name="adj" fmla="val 875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72154" y="21453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17" name="Text 15"/>
          <p:cNvSpPr/>
          <p:nvPr/>
        </p:nvSpPr>
        <p:spPr>
          <a:xfrm>
            <a:off x="5374746" y="22330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72154" y="2653376"/>
            <a:ext cx="1698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72154" y="2983576"/>
            <a:ext cx="16984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및 맞춤 견적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진행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31989" y="1941116"/>
            <a:ext cx="2005343" cy="1703917"/>
          </a:xfrm>
          <a:prstGeom prst="roundRect">
            <a:avLst>
              <a:gd name="adj" fmla="val 875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0847" y="21453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2" name="Text 20"/>
          <p:cNvSpPr/>
          <p:nvPr/>
        </p:nvSpPr>
        <p:spPr>
          <a:xfrm>
            <a:off x="7513439" y="22330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10847" y="2653376"/>
            <a:ext cx="1698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10847" y="2983576"/>
            <a:ext cx="16984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현장소장님 협력 및          세부절차진행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70682" y="1941116"/>
            <a:ext cx="2005343" cy="1703917"/>
          </a:xfrm>
          <a:prstGeom prst="roundRect">
            <a:avLst>
              <a:gd name="adj" fmla="val 8758"/>
            </a:avLst>
          </a:prstGeom>
          <a:solidFill>
            <a:srgbClr val="FBFB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49540" y="214537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/>
        </p:spPr>
      </p:sp>
      <p:sp>
        <p:nvSpPr>
          <p:cNvPr id="27" name="Text 25"/>
          <p:cNvSpPr/>
          <p:nvPr/>
        </p:nvSpPr>
        <p:spPr>
          <a:xfrm>
            <a:off x="9652133" y="2233017"/>
            <a:ext cx="2519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49540" y="2653376"/>
            <a:ext cx="1698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사후관리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49540" y="2983576"/>
            <a:ext cx="16984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개원 후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F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원장님 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3927611"/>
            <a:ext cx="10566400" cy="713714"/>
          </a:xfrm>
          <a:prstGeom prst="roundRect">
            <a:avLst>
              <a:gd name="adj" fmla="val 21353"/>
            </a:avLst>
          </a:prstGeom>
          <a:solidFill>
            <a:srgbClr val="0A2C6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800" y="4105411"/>
            <a:ext cx="2379067" cy="358114"/>
          </a:xfrm>
          <a:prstGeom prst="roundRect">
            <a:avLst>
              <a:gd name="adj" fmla="val 50000"/>
            </a:avLst>
          </a:prstGeom>
          <a:solidFill>
            <a:srgbClr val="F8FAFD"/>
          </a:solidFill>
          <a:ln/>
        </p:spPr>
      </p:sp>
      <p:sp>
        <p:nvSpPr>
          <p:cNvPr id="32" name="Text 30"/>
          <p:cNvSpPr/>
          <p:nvPr/>
        </p:nvSpPr>
        <p:spPr>
          <a:xfrm>
            <a:off x="1270000" y="4168911"/>
            <a:ext cx="203184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C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톤앤무드 협력 시 원장님 혜택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98267" y="4124461"/>
            <a:ext cx="2687805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</a:t>
            </a:r>
            <a:r>
              <a:rPr lang="en-US" sz="1800" b="1" dirty="0">
                <a:solidFill>
                  <a:srgbClr val="9D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평생 무상 방문 AS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35" name="Image 0" descr="핸드쉐이크 로고"/>
          <p:cNvPicPr>
            <a:picLocks noChangeAspect="1"/>
          </p:cNvPicPr>
          <p:nvPr/>
        </p:nvPicPr>
        <p:blipFill>
          <a:blip r:embed="rId3"/>
          <a:srcRect t="-141" b="-141"/>
          <a:stretch/>
        </p:blipFill>
        <p:spPr>
          <a:xfrm>
            <a:off x="812800" y="6235700"/>
            <a:ext cx="254000" cy="431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93800" y="6249064"/>
            <a:ext cx="14182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193800" y="6471314"/>
            <a:ext cx="141823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240044" y="6344909"/>
            <a:ext cx="2203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  |  </a:t>
            </a:r>
            <a:r>
              <a:rPr lang="en-US" sz="1200" b="1" dirty="0">
                <a:solidFill>
                  <a:srgbClr val="C8D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741227"/>
            <a:ext cx="2738305" cy="35811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804727"/>
            <a:ext cx="240186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HAND SHAKE · 병원 진료지킴이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302539"/>
            <a:ext cx="10883392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팀으로,</a:t>
            </a:r>
            <a:endParaRPr lang="en-US" sz="5200" dirty="0"/>
          </a:p>
          <a:p>
            <a:pPr marL="0" indent="0" algn="l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062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 함께 가겠습니다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024579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74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 신뢰와 협력을 바탕으로 더 큰 가치를 함께 만들어갑니다.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5715000"/>
            <a:ext cx="12192000" cy="1172104"/>
          </a:xfrm>
          <a:prstGeom prst="rect">
            <a:avLst/>
          </a:prstGeom>
          <a:solidFill>
            <a:srgbClr val="0A2C69"/>
          </a:solidFill>
          <a:ln/>
        </p:spPr>
      </p:sp>
      <p:pic>
        <p:nvPicPr>
          <p:cNvPr id="7" name="Image 0" descr="핸드쉐이크 로고"/>
          <p:cNvPicPr>
            <a:picLocks noChangeAspect="1"/>
          </p:cNvPicPr>
          <p:nvPr/>
        </p:nvPicPr>
        <p:blipFill>
          <a:blip r:embed="rId3"/>
          <a:srcRect t="-562" b="-562"/>
          <a:stretch/>
        </p:blipFill>
        <p:spPr>
          <a:xfrm>
            <a:off x="457200" y="5927663"/>
            <a:ext cx="2667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5500" y="5906095"/>
            <a:ext cx="18779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8FA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 SHAKE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5500" y="6223595"/>
            <a:ext cx="1877941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진료지킴이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8262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</a:t>
            </a: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안강훈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AHN KANG HOON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82975" y="5715000"/>
            <a:ext cx="0" cy="1172104"/>
          </a:xfrm>
          <a:prstGeom prst="line">
            <a:avLst/>
          </a:prstGeom>
          <a:noFill/>
          <a:ln w="6350">
            <a:solidFill>
              <a:srgbClr val="1E3D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38033" y="5715000"/>
            <a:ext cx="39199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통신·보안·가전 솔루션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38033" y="5971518"/>
            <a:ext cx="391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[통신사 · 네트워크 · PC 및 주변기기]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38033" y="6210238"/>
            <a:ext cx="391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[무인경비 · 출입제어 · 근태관리 · CCTV]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38033" y="6448958"/>
            <a:ext cx="434943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가전 [생활가전·디스플레이 (사이니지 · LED월 CMS솔루션)]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2575" y="5849014"/>
            <a:ext cx="0" cy="904081"/>
          </a:xfrm>
          <a:prstGeom prst="line">
            <a:avLst/>
          </a:prstGeom>
          <a:noFill/>
          <a:ln w="6350">
            <a:solidFill>
              <a:srgbClr val="1E3D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7634" y="5849014"/>
            <a:ext cx="368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010-2505-8589  </a:t>
            </a: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050-4268-1609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57634" y="6087734"/>
            <a:ext cx="368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handshakeofficial@naver.com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57634" y="6326454"/>
            <a:ext cx="368448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서울시 서초구 효령로 304, 3014~3015호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(서초동, 국제전자센터)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와이드스크린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Noto Sans KR</vt:lpstr>
      <vt:lpstr>맑은 고딕</vt:lpstr>
      <vt:lpstr>Arial</vt:lpstr>
      <vt:lpstr>Calibri</vt:lpstr>
      <vt:lpstr>Montserrat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핸드쉐이크 협력업체 제안서</dc:title>
  <dc:subject>PptxGenJS Presentation</dc:subject>
  <dc:creator>PptxGenJS</dc:creator>
  <cp:lastModifiedBy>핸드쉐이크 주식회사</cp:lastModifiedBy>
  <cp:revision>2</cp:revision>
  <dcterms:created xsi:type="dcterms:W3CDTF">2026-09-28T14:33:10Z</dcterms:created>
  <dcterms:modified xsi:type="dcterms:W3CDTF">2026-09-28T14:35:17Z</dcterms:modified>
</cp:coreProperties>
</file>