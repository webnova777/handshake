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9" r:id="rId2"/>
    <p:sldId id="271" r:id="rId3"/>
    <p:sldId id="260" r:id="rId4"/>
    <p:sldId id="261" r:id="rId5"/>
    <p:sldId id="262" r:id="rId6"/>
    <p:sldId id="263" r:id="rId7"/>
    <p:sldId id="257" r:id="rId8"/>
    <p:sldId id="264" r:id="rId9"/>
    <p:sldId id="265" r:id="rId10"/>
    <p:sldId id="256" r:id="rId11"/>
    <p:sldId id="266" r:id="rId12"/>
    <p:sldId id="267" r:id="rId13"/>
    <p:sldId id="258" r:id="rId14"/>
    <p:sldId id="268" r:id="rId15"/>
    <p:sldId id="269" r:id="rId16"/>
    <p:sldId id="270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54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8741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S_PLAN">
    <p:bg>
      <p:bgPr>
        <a:solidFill>
          <a:srgbClr val="F3F6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6409944"/>
            <a:ext cx="1325880" cy="3931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10512" y="63550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1"/>
                </a:solidFill>
              </a:rPr>
              <a:t>병원 통신·보안·가전 솔루션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675120" y="329184"/>
            <a:ext cx="5056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chemeClr val="accent1"/>
                </a:solidFill>
              </a:rPr>
              <a:t>병원 진료지킴이 핸드쉐이크가 신뢰를 제공합니다</a:t>
            </a:r>
            <a:endParaRPr lang="en-US" sz="1300" dirty="0"/>
          </a:p>
        </p:txBody>
      </p:sp>
      <p:sp>
        <p:nvSpPr>
          <p:cNvPr id="6" name="Text 3"/>
          <p:cNvSpPr>
            <a:spLocks noGrp="1"/>
          </p:cNvSpPr>
          <p:nvPr>
            <p:ph type="body" idx="104" hasCustomPrompt="1"/>
          </p:nvPr>
        </p:nvSpPr>
        <p:spPr>
          <a:xfrm>
            <a:off x="457200" y="329184"/>
            <a:ext cx="1737360" cy="347472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1200" b="1" dirty="0">
                <a:solidFill>
                  <a:schemeClr val="bg1"/>
                </a:solidFill>
              </a:defRPr>
            </a:lvl1pPr>
          </a:lstStyle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7" name="Text 3"/>
          <p:cNvSpPr>
            <a:spLocks noGrp="1"/>
          </p:cNvSpPr>
          <p:nvPr>
            <p:ph type="title" idx="105" hasCustomPrompt="1"/>
          </p:nvPr>
        </p:nvSpPr>
        <p:spPr>
          <a:xfrm>
            <a:off x="457200" y="731520"/>
            <a:ext cx="77724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3.png"/><Relationship Id="rId3" Type="http://schemas.openxmlformats.org/officeDocument/2006/relationships/image" Target="../media/image14.png"/><Relationship Id="rId7" Type="http://schemas.openxmlformats.org/officeDocument/2006/relationships/image" Target="../media/image3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4.png"/><Relationship Id="rId9" Type="http://schemas.openxmlformats.org/officeDocument/2006/relationships/image" Target="../media/image2.png"/><Relationship Id="rId1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6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image" Target="../media/image14.png"/><Relationship Id="rId5" Type="http://schemas.openxmlformats.org/officeDocument/2006/relationships/image" Target="../media/image25.png"/><Relationship Id="rId10" Type="http://schemas.openxmlformats.org/officeDocument/2006/relationships/image" Target="../media/image27.png"/><Relationship Id="rId4" Type="http://schemas.openxmlformats.org/officeDocument/2006/relationships/image" Target="../media/image24.png"/><Relationship Id="rId9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13816" y="768096"/>
            <a:ext cx="2377439" cy="393192"/>
          </a:xfrm>
          <a:prstGeom prst="roundRect">
            <a:avLst>
              <a:gd name="adj" fmla="val 50000"/>
            </a:avLst>
          </a:prstGeom>
          <a:solidFill>
            <a:srgbClr val="1748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다나음 정형외과 원장님께</a:t>
            </a:r>
          </a:p>
        </p:txBody>
      </p:sp>
      <p:sp>
        <p:nvSpPr>
          <p:cNvPr id="40" name="Partner Pill"/>
          <p:cNvSpPr/>
          <p:nvPr/>
        </p:nvSpPr>
        <p:spPr>
          <a:xfrm>
            <a:off x="7498080" y="740664"/>
            <a:ext cx="3886200" cy="4480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748B1"/>
            </a:solidFill>
          </a:ln>
        </p:spPr>
        <p:txBody>
          <a:bodyPr wrap="none" lIns="0" tIns="0" rIns="0" bIns="0" anchor="ctr"/>
          <a:lstStyle/>
          <a:p>
            <a:pPr algn="ctr"/>
            <a:r>
              <a:rPr lang="en-US" sz="1300" b="1" dirty="0">
                <a:solidFill>
                  <a:srgbClr val="0A2C69"/>
                </a:solidFill>
                <a:latin typeface="맑은 고딕"/>
                <a:ea typeface="맑은 고딕"/>
                <a:cs typeface="맑은 고딕"/>
              </a:rPr>
              <a:t>MOOA DESIGN</a:t>
            </a:r>
            <a:r>
              <a:rPr lang="en-US" sz="1300" b="0" dirty="0">
                <a:solidFill>
                  <a:srgbClr val="8A97AB"/>
                </a:solidFill>
                <a:latin typeface="맑은 고딕"/>
                <a:ea typeface="맑은 고딕"/>
                <a:cs typeface="맑은 고딕"/>
              </a:rPr>
              <a:t>  ×  </a:t>
            </a:r>
            <a:r>
              <a:rPr lang="en-US" sz="1300" b="1" dirty="0">
                <a:solidFill>
                  <a:srgbClr val="0A2C69"/>
                </a:solidFill>
                <a:latin typeface="맑은 고딕"/>
                <a:ea typeface="맑은 고딕"/>
                <a:cs typeface="맑은 고딕"/>
              </a:rPr>
              <a:t>HAND SHAKE</a:t>
            </a:r>
            <a:r>
              <a:rPr lang="ko-KR" sz="1300" b="1" dirty="0">
                <a:solidFill>
                  <a:srgbClr val="1748B1"/>
                </a:solidFill>
                <a:latin typeface="맑은 고딕"/>
                <a:ea typeface="맑은 고딕"/>
                <a:cs typeface="맑은 고딕"/>
              </a:rPr>
              <a:t>   협력 현장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1847088"/>
            <a:ext cx="1051560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sz="6000" b="1">
                <a:solidFill>
                  <a:srgbClr val="0A2C69"/>
                </a:solidFill>
                <a:latin typeface="맑은 고딕"/>
                <a:ea typeface="맑은 고딕"/>
                <a:cs typeface="맑은 고딕"/>
              </a:rPr>
              <a:t>다나음 정형외과</a:t>
            </a:r>
          </a:p>
          <a:p>
            <a:pPr algn="l">
              <a:lnSpc>
                <a:spcPts val="7000"/>
              </a:lnSpc>
            </a:pPr>
            <a:r>
              <a:rPr sz="6000" b="1">
                <a:solidFill>
                  <a:srgbClr val="0A2C69"/>
                </a:solidFill>
                <a:latin typeface="맑은 고딕"/>
                <a:ea typeface="맑은 고딕"/>
                <a:cs typeface="맑은 고딕"/>
              </a:rPr>
              <a:t>견적설명서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" y="3858768"/>
            <a:ext cx="9144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00"/>
              </a:lnSpc>
            </a:pPr>
            <a:r>
              <a:rPr sz="1900" b="1">
                <a:solidFill>
                  <a:srgbClr val="1748B1"/>
                </a:solidFill>
                <a:latin typeface="맑은 고딕"/>
                <a:ea typeface="맑은 고딕"/>
                <a:cs typeface="맑은 고딕"/>
              </a:rPr>
              <a:t>통신 · 보안 · 가전, 계약부터 설치, 개원 후 AS까지</a:t>
            </a:r>
          </a:p>
          <a:p>
            <a:pPr algn="l">
              <a:lnSpc>
                <a:spcPts val="2900"/>
              </a:lnSpc>
            </a:pPr>
            <a:r>
              <a:rPr sz="1900" b="1">
                <a:solidFill>
                  <a:srgbClr val="1748B1"/>
                </a:solidFill>
                <a:latin typeface="맑은 고딕"/>
                <a:ea typeface="맑은 고딕"/>
                <a:cs typeface="맑은 고딕"/>
              </a:rPr>
              <a:t>핸드쉐이크가 책임집니다.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" y="5358940"/>
            <a:ext cx="822960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dirty="0" err="1">
                <a:solidFill>
                  <a:srgbClr val="6B7A90"/>
                </a:solidFill>
                <a:latin typeface="맑은 고딕"/>
                <a:ea typeface="맑은 고딕"/>
                <a:cs typeface="맑은 고딕"/>
              </a:rPr>
              <a:t>견적</a:t>
            </a:r>
            <a:r>
              <a:rPr sz="1300" b="0" dirty="0">
                <a:solidFill>
                  <a:srgbClr val="6B7A9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6B7A90"/>
                </a:solidFill>
                <a:latin typeface="맑은 고딕"/>
                <a:ea typeface="맑은 고딕"/>
                <a:cs typeface="맑은 고딕"/>
              </a:rPr>
              <a:t>기준일</a:t>
            </a:r>
            <a:r>
              <a:rPr sz="1300" b="0" dirty="0">
                <a:solidFill>
                  <a:srgbClr val="6B7A90"/>
                </a:solidFill>
                <a:latin typeface="맑은 고딕"/>
                <a:ea typeface="맑은 고딕"/>
                <a:cs typeface="맑은 고딕"/>
              </a:rPr>
              <a:t> 2026. 10. 14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852160"/>
            <a:ext cx="12191695" cy="1005840"/>
          </a:xfrm>
          <a:prstGeom prst="rect">
            <a:avLst/>
          </a:prstGeom>
          <a:solidFill>
            <a:srgbClr val="0A2C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6089904"/>
            <a:ext cx="1792224" cy="5298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0" y="6035040"/>
            <a:ext cx="58978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2000"/>
              </a:lnSpc>
            </a:pPr>
            <a:r>
              <a:rPr sz="1300" b="0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대표</a:t>
            </a:r>
            <a:r>
              <a:rPr sz="1300" b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안강훈</a:t>
            </a:r>
            <a:r>
              <a:rPr sz="1300" b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  M 010-2505-8589   T 02-523-8589</a:t>
            </a:r>
          </a:p>
          <a:p>
            <a:pPr algn="r">
              <a:lnSpc>
                <a:spcPts val="2000"/>
              </a:lnSpc>
            </a:pPr>
            <a:r>
              <a:rPr sz="1300" b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handshakeofficial@naver.com</a:t>
            </a:r>
          </a:p>
        </p:txBody>
      </p:sp>
      <p:sp>
        <p:nvSpPr>
          <p:cNvPr id="41" name="Partner Line"/>
          <p:cNvSpPr txBox="1"/>
          <p:nvPr/>
        </p:nvSpPr>
        <p:spPr>
          <a:xfrm>
            <a:off x="813816" y="480060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ko-KR" sz="1400" b="0" dirty="0" err="1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무아디자인이</a:t>
            </a:r>
            <a:r>
              <a:rPr lang="ko-KR" sz="1400" b="0" dirty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 완성하는 공간 위에, 진료에 필요한 설비를 같은 공정표로 더합니다.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457200" y="329184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1748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Text Placeholder 1"/>
          <p:cNvSpPr>
            <a:spLocks noGrp="1"/>
          </p:cNvSpPr>
          <p:nvPr>
            <p:ph type="body" idx="104"/>
          </p:nvPr>
        </p:nvSpPr>
        <p:spPr>
          <a:xfrm>
            <a:off x="457200" y="329184"/>
            <a:ext cx="1554480" cy="347472"/>
          </a:xfrm>
        </p:spPr>
        <p:txBody>
          <a:bodyPr lIns="0" tIns="0" rIns="0" bIns="0" anchor="ctr"/>
          <a:lstStyle/>
          <a:p>
            <a:r>
              <a:t>협력 파트너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5"/>
          </p:nvPr>
        </p:nvSpPr>
        <p:spPr>
          <a:xfrm>
            <a:off x="457200" y="731520"/>
            <a:ext cx="8686800" cy="548640"/>
          </a:xfrm>
        </p:spPr>
        <p:txBody>
          <a:bodyPr lIns="0" tIns="0" rIns="0" bIns="0" anchor="ctr"/>
          <a:lstStyle/>
          <a:p>
            <a:r>
              <a:t>무아디자인과 한 팀으로 개원을 준비합니다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2" y="6474508"/>
            <a:ext cx="640080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3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프로젝트</a:t>
            </a:r>
            <a:r>
              <a:rPr sz="13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: </a:t>
            </a:r>
            <a:r>
              <a:rPr sz="13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다나음 정형외과</a:t>
            </a:r>
            <a:r>
              <a:rPr sz="13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  |   </a:t>
            </a:r>
            <a:r>
              <a:rPr sz="13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무아디자인</a:t>
            </a:r>
            <a:r>
              <a:rPr lang="en-US" sz="13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3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협력업체</a:t>
            </a:r>
            <a:endParaRPr sz="13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344168"/>
            <a:ext cx="1124712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dirty="0" err="1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공들여</a:t>
            </a:r>
            <a:r>
              <a:rPr sz="1300" b="0" dirty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만든</a:t>
            </a:r>
            <a:r>
              <a:rPr sz="1300" b="0" dirty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인테리어</a:t>
            </a:r>
            <a:r>
              <a:rPr sz="1300" b="0" dirty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300" b="0" dirty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디자인</a:t>
            </a:r>
            <a:r>
              <a:rPr sz="1300" b="0" dirty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에, </a:t>
            </a:r>
            <a:r>
              <a:rPr sz="1300" b="0" dirty="0" err="1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통신·보안·가전을</a:t>
            </a:r>
            <a:r>
              <a:rPr sz="1300" b="0" dirty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같은</a:t>
            </a:r>
            <a:r>
              <a:rPr sz="1300" b="0" dirty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공정표로</a:t>
            </a:r>
            <a:r>
              <a:rPr sz="1300" b="0" dirty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더합니다</a:t>
            </a:r>
            <a:r>
              <a:rPr sz="1300" b="0" dirty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01" name="Partner Panel"/>
          <p:cNvSpPr/>
          <p:nvPr/>
        </p:nvSpPr>
        <p:spPr>
          <a:xfrm>
            <a:off x="457200" y="1874519"/>
            <a:ext cx="4663440" cy="4206240"/>
          </a:xfrm>
          <a:prstGeom prst="roundRect">
            <a:avLst>
              <a:gd name="adj" fmla="val 6000"/>
            </a:avLst>
          </a:prstGeom>
          <a:solidFill>
            <a:srgbClr val="0A2C6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02" name="Partner Tag"/>
          <p:cNvSpPr/>
          <p:nvPr/>
        </p:nvSpPr>
        <p:spPr>
          <a:xfrm>
            <a:off x="731520" y="2103119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1748B1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03" name="Text"/>
          <p:cNvSpPr txBox="1"/>
          <p:nvPr/>
        </p:nvSpPr>
        <p:spPr>
          <a:xfrm>
            <a:off x="731520" y="2103119"/>
            <a:ext cx="146304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ko-KR"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PARTNERSHIP</a:t>
            </a:r>
          </a:p>
        </p:txBody>
      </p:sp>
      <p:sp>
        <p:nvSpPr>
          <p:cNvPr id="104" name="Text"/>
          <p:cNvSpPr txBox="1"/>
          <p:nvPr/>
        </p:nvSpPr>
        <p:spPr>
          <a:xfrm>
            <a:off x="731520" y="2606039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ko-KR"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MOOA DESIGN</a:t>
            </a:r>
          </a:p>
        </p:txBody>
      </p:sp>
      <p:sp>
        <p:nvSpPr>
          <p:cNvPr id="105" name="Text"/>
          <p:cNvSpPr txBox="1"/>
          <p:nvPr/>
        </p:nvSpPr>
        <p:spPr>
          <a:xfrm>
            <a:off x="731520" y="3072383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ko-KR" sz="1100" b="0" dirty="0">
                <a:solidFill>
                  <a:srgbClr val="C8D6F0"/>
                </a:solidFill>
                <a:latin typeface="맑은 고딕"/>
                <a:ea typeface="맑은 고딕"/>
                <a:cs typeface="맑은 고딕"/>
              </a:rPr>
              <a:t>병원 인테리어 전문  |  2007년 설립 · 의료공간 1,000곳+</a:t>
            </a:r>
          </a:p>
        </p:txBody>
      </p:sp>
      <p:sp>
        <p:nvSpPr>
          <p:cNvPr id="106" name="Text"/>
          <p:cNvSpPr txBox="1"/>
          <p:nvPr/>
        </p:nvSpPr>
        <p:spPr>
          <a:xfrm>
            <a:off x="731520" y="3438143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ko-KR" sz="2000" b="1">
                <a:solidFill>
                  <a:srgbClr val="8FA8D8"/>
                </a:solidFill>
                <a:latin typeface="맑은 고딕"/>
                <a:ea typeface="맑은 고딕"/>
                <a:cs typeface="맑은 고딕"/>
              </a:rPr>
              <a:t>×</a:t>
            </a:r>
          </a:p>
        </p:txBody>
      </p:sp>
      <p:sp>
        <p:nvSpPr>
          <p:cNvPr id="107" name="Text"/>
          <p:cNvSpPr txBox="1"/>
          <p:nvPr/>
        </p:nvSpPr>
        <p:spPr>
          <a:xfrm>
            <a:off x="731520" y="3840479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ko-KR"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HAND SHAKE</a:t>
            </a:r>
          </a:p>
        </p:txBody>
      </p:sp>
      <p:sp>
        <p:nvSpPr>
          <p:cNvPr id="108" name="Text"/>
          <p:cNvSpPr txBox="1"/>
          <p:nvPr/>
        </p:nvSpPr>
        <p:spPr>
          <a:xfrm>
            <a:off x="731520" y="4306823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ko-KR" sz="1100" b="0" dirty="0">
                <a:solidFill>
                  <a:srgbClr val="C8D6F0"/>
                </a:solidFill>
                <a:latin typeface="맑은 고딕"/>
                <a:ea typeface="맑은 고딕"/>
                <a:cs typeface="맑은 고딕"/>
              </a:rPr>
              <a:t>통신 · 보안 · 가전 납품  |  개원 후 유지보수</a:t>
            </a:r>
          </a:p>
        </p:txBody>
      </p:sp>
      <p:sp>
        <p:nvSpPr>
          <p:cNvPr id="109" name="Benefit Box"/>
          <p:cNvSpPr/>
          <p:nvPr/>
        </p:nvSpPr>
        <p:spPr>
          <a:xfrm>
            <a:off x="731520" y="4846319"/>
            <a:ext cx="4114800" cy="1005840"/>
          </a:xfrm>
          <a:prstGeom prst="roundRect">
            <a:avLst>
              <a:gd name="adj" fmla="val 10000"/>
            </a:avLst>
          </a:prstGeom>
          <a:solidFill>
            <a:srgbClr val="143A7E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10" name="Text"/>
          <p:cNvSpPr txBox="1"/>
          <p:nvPr/>
        </p:nvSpPr>
        <p:spPr>
          <a:xfrm>
            <a:off x="960120" y="5001767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ko-KR" sz="1100" b="1">
                <a:solidFill>
                  <a:srgbClr val="C8D6F0"/>
                </a:solidFill>
                <a:latin typeface="맑은 고딕"/>
                <a:ea typeface="맑은 고딕"/>
                <a:cs typeface="맑은 고딕"/>
              </a:rPr>
              <a:t>무아디자인 협력 현장 특별 혜택</a:t>
            </a:r>
          </a:p>
        </p:txBody>
      </p:sp>
      <p:sp>
        <p:nvSpPr>
          <p:cNvPr id="111" name="Text"/>
          <p:cNvSpPr txBox="1"/>
          <p:nvPr/>
        </p:nvSpPr>
        <p:spPr>
          <a:xfrm>
            <a:off x="960120" y="5312663"/>
            <a:ext cx="365760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ko-KR" sz="17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네트워크 평생 무상 방문</a:t>
            </a:r>
            <a:r>
              <a:rPr lang="ko-KR" altLang="en-US" sz="17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출장</a:t>
            </a:r>
            <a:r>
              <a:rPr lang="ko-KR" sz="17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AS</a:t>
            </a:r>
          </a:p>
        </p:txBody>
      </p:sp>
      <p:sp>
        <p:nvSpPr>
          <p:cNvPr id="112" name="Card 01"/>
          <p:cNvSpPr/>
          <p:nvPr/>
        </p:nvSpPr>
        <p:spPr>
          <a:xfrm>
            <a:off x="5394960" y="1874519"/>
            <a:ext cx="633984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E8F2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13" name="Num 01"/>
          <p:cNvSpPr/>
          <p:nvPr/>
        </p:nvSpPr>
        <p:spPr>
          <a:xfrm>
            <a:off x="5669280" y="2263139"/>
            <a:ext cx="502920" cy="502920"/>
          </a:xfrm>
          <a:prstGeom prst="ellipse">
            <a:avLst/>
          </a:prstGeom>
          <a:solidFill>
            <a:srgbClr val="1748B1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14" name="Text"/>
          <p:cNvSpPr txBox="1"/>
          <p:nvPr/>
        </p:nvSpPr>
        <p:spPr>
          <a:xfrm>
            <a:off x="5669280" y="22631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ko-KR"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115" name="Text"/>
          <p:cNvSpPr txBox="1"/>
          <p:nvPr/>
        </p:nvSpPr>
        <p:spPr>
          <a:xfrm>
            <a:off x="6446520" y="2075687"/>
            <a:ext cx="501396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ko-KR" sz="1500" b="1">
                <a:solidFill>
                  <a:srgbClr val="0A2C69"/>
                </a:solidFill>
                <a:latin typeface="맑은 고딕"/>
                <a:ea typeface="맑은 고딕"/>
                <a:cs typeface="맑은 고딕"/>
              </a:rPr>
              <a:t>공정표 하나로 움직입니다</a:t>
            </a:r>
          </a:p>
        </p:txBody>
      </p:sp>
      <p:sp>
        <p:nvSpPr>
          <p:cNvPr id="116" name="Text"/>
          <p:cNvSpPr txBox="1"/>
          <p:nvPr/>
        </p:nvSpPr>
        <p:spPr>
          <a:xfrm>
            <a:off x="6446520" y="2450591"/>
            <a:ext cx="501396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</a:pPr>
            <a:r>
              <a:rPr lang="ko-KR" sz="1150" b="0" dirty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착공부터 준공청소까지 </a:t>
            </a:r>
            <a:r>
              <a:rPr lang="ko-KR" sz="1150" b="0" dirty="0" err="1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무아디자인</a:t>
            </a:r>
            <a:r>
              <a:rPr lang="ko-KR" sz="1150" b="0" dirty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 공정에 맞춰 계약 · 배선 · 입고 일정을 잡습니다. 원장님이 업체별로 일정을 따로 맞추실 필요가 없습니다.</a:t>
            </a:r>
          </a:p>
        </p:txBody>
      </p:sp>
      <p:sp>
        <p:nvSpPr>
          <p:cNvPr id="117" name="Card 02"/>
          <p:cNvSpPr/>
          <p:nvPr/>
        </p:nvSpPr>
        <p:spPr>
          <a:xfrm>
            <a:off x="5394960" y="3337559"/>
            <a:ext cx="633984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E8F2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18" name="Num 02"/>
          <p:cNvSpPr/>
          <p:nvPr/>
        </p:nvSpPr>
        <p:spPr>
          <a:xfrm>
            <a:off x="5669280" y="3726179"/>
            <a:ext cx="502920" cy="502920"/>
          </a:xfrm>
          <a:prstGeom prst="ellipse">
            <a:avLst/>
          </a:prstGeom>
          <a:solidFill>
            <a:srgbClr val="1748B1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19" name="Text"/>
          <p:cNvSpPr txBox="1"/>
          <p:nvPr/>
        </p:nvSpPr>
        <p:spPr>
          <a:xfrm>
            <a:off x="5669280" y="372617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ko-KR"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20" name="Text"/>
          <p:cNvSpPr txBox="1"/>
          <p:nvPr/>
        </p:nvSpPr>
        <p:spPr>
          <a:xfrm>
            <a:off x="6446520" y="3538727"/>
            <a:ext cx="501396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ko-KR" sz="1500" b="1">
                <a:solidFill>
                  <a:srgbClr val="0A2C69"/>
                </a:solidFill>
                <a:latin typeface="맑은 고딕"/>
                <a:ea typeface="맑은 고딕"/>
                <a:cs typeface="맑은 고딕"/>
              </a:rPr>
              <a:t>마감 전에 현장소장님과 먼저 맞춥니다</a:t>
            </a:r>
          </a:p>
        </p:txBody>
      </p:sp>
      <p:sp>
        <p:nvSpPr>
          <p:cNvPr id="121" name="Text"/>
          <p:cNvSpPr txBox="1"/>
          <p:nvPr/>
        </p:nvSpPr>
        <p:spPr>
          <a:xfrm>
            <a:off x="6446520" y="3913631"/>
            <a:ext cx="501396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</a:pPr>
            <a:r>
              <a:rPr lang="ko-KR" sz="1150" b="0" dirty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CCTV 배선 경로, </a:t>
            </a:r>
            <a:r>
              <a:rPr lang="ko-KR" sz="1150" b="0" dirty="0" err="1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사이니지</a:t>
            </a:r>
            <a:r>
              <a:rPr lang="ko-KR" sz="1150" b="0" dirty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 매립 깊이, 정수기 · 세탁기 </a:t>
            </a:r>
            <a:r>
              <a:rPr lang="ko-KR" sz="1150" b="0" dirty="0" err="1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급배수</a:t>
            </a:r>
            <a:r>
              <a:rPr lang="ko-KR" sz="1150" b="0" dirty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 위치 등 기기 제원을 미리 공유해 재시공과 마감 손상을 막습니다.</a:t>
            </a:r>
          </a:p>
        </p:txBody>
      </p:sp>
      <p:sp>
        <p:nvSpPr>
          <p:cNvPr id="122" name="Card 03"/>
          <p:cNvSpPr/>
          <p:nvPr/>
        </p:nvSpPr>
        <p:spPr>
          <a:xfrm>
            <a:off x="5394960" y="4800599"/>
            <a:ext cx="633984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E8F2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23" name="Num 03"/>
          <p:cNvSpPr/>
          <p:nvPr/>
        </p:nvSpPr>
        <p:spPr>
          <a:xfrm>
            <a:off x="5669280" y="5189219"/>
            <a:ext cx="502920" cy="502920"/>
          </a:xfrm>
          <a:prstGeom prst="ellipse">
            <a:avLst/>
          </a:prstGeom>
          <a:solidFill>
            <a:srgbClr val="1748B1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24" name="Text"/>
          <p:cNvSpPr txBox="1"/>
          <p:nvPr/>
        </p:nvSpPr>
        <p:spPr>
          <a:xfrm>
            <a:off x="5669280" y="518921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ko-KR"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25" name="Text"/>
          <p:cNvSpPr txBox="1"/>
          <p:nvPr/>
        </p:nvSpPr>
        <p:spPr>
          <a:xfrm>
            <a:off x="6446520" y="5001767"/>
            <a:ext cx="501396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ko-KR" sz="1500" b="1" dirty="0">
                <a:solidFill>
                  <a:srgbClr val="0A2C69"/>
                </a:solidFill>
                <a:latin typeface="맑은 고딕"/>
                <a:ea typeface="맑은 고딕"/>
                <a:cs typeface="맑은 고딕"/>
              </a:rPr>
              <a:t>문제가 생기면 같은 팀으로 해결합니다</a:t>
            </a:r>
          </a:p>
        </p:txBody>
      </p:sp>
      <p:sp>
        <p:nvSpPr>
          <p:cNvPr id="126" name="Text"/>
          <p:cNvSpPr txBox="1"/>
          <p:nvPr/>
        </p:nvSpPr>
        <p:spPr>
          <a:xfrm>
            <a:off x="6446520" y="5376671"/>
            <a:ext cx="501396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</a:pPr>
            <a:r>
              <a:rPr lang="ko-KR" sz="1150" b="0" dirty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책임을 따지기보다 </a:t>
            </a:r>
            <a:r>
              <a:rPr lang="ko-KR" sz="1150" b="0" dirty="0" err="1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무아디자인과</a:t>
            </a:r>
            <a:r>
              <a:rPr lang="ko-KR" sz="1150" b="0" dirty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 함께 먼저 해결하고, 핸드쉐이크 품목에서 생긴 비용은 </a:t>
            </a:r>
            <a:r>
              <a:rPr lang="ko-KR" sz="1150" b="0" dirty="0" err="1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핸드쉐이크가</a:t>
            </a:r>
            <a:r>
              <a:rPr lang="ko-KR" sz="1150" b="0" dirty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 책임집니다.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457200" y="329184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1748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Text Placeholder 1"/>
          <p:cNvSpPr>
            <a:spLocks noGrp="1"/>
          </p:cNvSpPr>
          <p:nvPr>
            <p:ph type="body" idx="104"/>
          </p:nvPr>
        </p:nvSpPr>
        <p:spPr>
          <a:xfrm>
            <a:off x="457200" y="329184"/>
            <a:ext cx="1737360" cy="347472"/>
          </a:xfrm>
        </p:spPr>
        <p:txBody>
          <a:bodyPr lIns="0" tIns="0" rIns="0" bIns="0" anchor="ctr"/>
          <a:lstStyle/>
          <a:p>
            <a:r>
              <a:t>회사소개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5"/>
          </p:nvPr>
        </p:nvSpPr>
        <p:spPr>
          <a:xfrm>
            <a:off x="457200" y="731520"/>
            <a:ext cx="8686800" cy="548640"/>
          </a:xfrm>
        </p:spPr>
        <p:txBody>
          <a:bodyPr lIns="0" tIns="0" rIns="0" bIns="0" anchor="ctr"/>
          <a:lstStyle/>
          <a:p>
            <a:r>
              <a:t>병원 진료를 지키는 하나의 파트너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2" y="6474508"/>
            <a:ext cx="640080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3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프로젝트</a:t>
            </a:r>
            <a:r>
              <a:rPr sz="13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: </a:t>
            </a:r>
            <a:r>
              <a:rPr sz="13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다나음 정형외과</a:t>
            </a:r>
            <a:r>
              <a:rPr sz="13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  | </a:t>
            </a:r>
            <a:r>
              <a:rPr lang="ko-KR" altLang="en-US" sz="13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무아디자인</a:t>
            </a:r>
            <a:r>
              <a:rPr lang="ko-KR" altLang="en-US" sz="13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협력업체</a:t>
            </a:r>
            <a:endParaRPr sz="13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344168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dirty="0" err="1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통신·네트워크·PC부터</a:t>
            </a:r>
            <a:r>
              <a:rPr sz="1300" b="0" dirty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보안</a:t>
            </a:r>
            <a:r>
              <a:rPr sz="1300" b="0" dirty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1300" b="0" dirty="0" err="1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가전까지</a:t>
            </a:r>
            <a:r>
              <a:rPr sz="1300" b="0" dirty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 — </a:t>
            </a:r>
            <a:r>
              <a:rPr sz="1300" b="0" dirty="0" err="1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개원에</a:t>
            </a:r>
            <a:r>
              <a:rPr sz="1300" b="0" dirty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필요한</a:t>
            </a:r>
            <a:r>
              <a:rPr sz="1300" b="0" dirty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설비를</a:t>
            </a:r>
            <a:r>
              <a:rPr sz="1300" b="0" dirty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 한 </a:t>
            </a:r>
            <a:r>
              <a:rPr sz="1300" b="0" dirty="0" err="1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곳에서</a:t>
            </a:r>
            <a:r>
              <a:rPr sz="1300" b="0" dirty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납품하고</a:t>
            </a:r>
            <a:r>
              <a:rPr sz="1300" b="0" dirty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신속하게</a:t>
            </a:r>
            <a:r>
              <a:rPr sz="1300" b="0" dirty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유지보수합니다</a:t>
            </a:r>
            <a:r>
              <a:rPr sz="1300" b="0" dirty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261289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938528"/>
            <a:ext cx="2064257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>
                <a:solidFill>
                  <a:srgbClr val="1748B1"/>
                </a:solidFill>
                <a:latin typeface="맑은 고딕"/>
                <a:ea typeface="맑은 고딕"/>
                <a:cs typeface="맑은 고딕"/>
              </a:rPr>
              <a:t>300+</a:t>
            </a:r>
            <a:r>
              <a:rPr sz="1400" b="1">
                <a:solidFill>
                  <a:srgbClr val="0A2C69"/>
                </a:solidFill>
                <a:latin typeface="맑은 고딕"/>
                <a:ea typeface="맑은 고딕"/>
                <a:cs typeface="맑은 고딕"/>
              </a:rPr>
              <a:t> 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68880"/>
            <a:ext cx="206425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병원 개원 납품 이력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44418" y="1828800"/>
            <a:ext cx="261289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18737" y="1938528"/>
            <a:ext cx="2064257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>
                <a:solidFill>
                  <a:srgbClr val="1748B1"/>
                </a:solidFill>
                <a:latin typeface="맑은 고딕"/>
                <a:ea typeface="맑은 고딕"/>
                <a:cs typeface="맑은 고딕"/>
              </a:rPr>
              <a:t>당일</a:t>
            </a:r>
            <a:r>
              <a:rPr sz="1400" b="1">
                <a:solidFill>
                  <a:srgbClr val="0A2C69"/>
                </a:solidFill>
                <a:latin typeface="맑은 고딕"/>
                <a:ea typeface="맑은 고딕"/>
                <a:cs typeface="맑은 고딕"/>
              </a:rPr>
              <a:t> 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8737" y="2468880"/>
            <a:ext cx="206425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진료불가 시 당일 출동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1636" y="1828800"/>
            <a:ext cx="261289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05955" y="1938528"/>
            <a:ext cx="2064257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>
                <a:solidFill>
                  <a:srgbClr val="1748B1"/>
                </a:solidFill>
                <a:latin typeface="맑은 고딕"/>
                <a:ea typeface="맑은 고딕"/>
                <a:cs typeface="맑은 고딕"/>
              </a:rPr>
              <a:t>토요일</a:t>
            </a:r>
            <a:r>
              <a:rPr sz="1400" b="1">
                <a:solidFill>
                  <a:srgbClr val="0A2C69"/>
                </a:solidFill>
                <a:latin typeface="맑은 고딕"/>
                <a:ea typeface="맑은 고딕"/>
                <a:cs typeface="맑은 고딕"/>
              </a:rPr>
              <a:t> 근무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5955" y="2468880"/>
            <a:ext cx="206425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병원 진료일에 맞춘 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18854" y="1828800"/>
            <a:ext cx="261289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93174" y="1938528"/>
            <a:ext cx="2064257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>
                <a:solidFill>
                  <a:srgbClr val="1748B1"/>
                </a:solidFill>
                <a:latin typeface="맑은 고딕"/>
                <a:ea typeface="맑은 고딕"/>
                <a:cs typeface="맑은 고딕"/>
              </a:rPr>
              <a:t>병원별</a:t>
            </a:r>
            <a:r>
              <a:rPr sz="1400" b="1">
                <a:solidFill>
                  <a:srgbClr val="0A2C69"/>
                </a:solidFill>
                <a:latin typeface="맑은 고딕"/>
                <a:ea typeface="맑은 고딕"/>
                <a:cs typeface="맑은 고딕"/>
              </a:rPr>
              <a:t> 관리방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93174" y="2468880"/>
            <a:ext cx="206425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납기·사후관리 전담 소통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108960"/>
            <a:ext cx="357530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3108960"/>
            <a:ext cx="3575304" cy="73152"/>
          </a:xfrm>
          <a:prstGeom prst="rect">
            <a:avLst/>
          </a:prstGeom>
          <a:solidFill>
            <a:srgbClr val="1748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3337560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0A2C69"/>
                </a:solidFill>
                <a:latin typeface="맑은 고딕"/>
                <a:ea typeface="맑은 고딕"/>
                <a:cs typeface="맑은 고딕"/>
              </a:rPr>
              <a:t>통신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2344" y="3392424"/>
            <a:ext cx="292608" cy="292608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9816" y="3392424"/>
            <a:ext cx="292608" cy="292608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7288" y="3392424"/>
            <a:ext cx="292608" cy="29260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31520" y="3767328"/>
            <a:ext cx="30266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A97AB"/>
                </a:solidFill>
                <a:latin typeface="맑은 고딕"/>
                <a:ea typeface="맑은 고딕"/>
                <a:cs typeface="맑은 고딕"/>
              </a:rPr>
              <a:t>통신사 · 네트워크 · PC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069080"/>
            <a:ext cx="302666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748B1"/>
                </a:solidFill>
                <a:latin typeface="맑은 고딕"/>
                <a:ea typeface="맑은 고딕"/>
                <a:cs typeface="맑은 고딕"/>
              </a:rPr>
              <a:t>하나의 밸류체인으로
안전하고 편리하게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31520" y="4846320"/>
            <a:ext cx="3026664" cy="0"/>
          </a:xfrm>
          <a:prstGeom prst="line">
            <a:avLst/>
          </a:prstGeom>
          <a:ln w="9525">
            <a:solidFill>
              <a:srgbClr val="E3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31520" y="4956048"/>
            <a:ext cx="302666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1">
                <a:solidFill>
                  <a:srgbClr val="1748B1"/>
                </a:solidFill>
                <a:latin typeface="맑은 고딕"/>
                <a:ea typeface="맑은 고딕"/>
                <a:cs typeface="맑은 고딕"/>
              </a:rPr>
              <a:t>·  </a:t>
            </a:r>
            <a:r>
              <a:rPr sz="115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장애 시 LTE 라우터 자동 백업</a:t>
            </a:r>
          </a:p>
          <a:p>
            <a:pPr algn="l">
              <a:lnSpc>
                <a:spcPct val="135000"/>
              </a:lnSpc>
            </a:pPr>
            <a:r>
              <a:rPr sz="1150" b="1">
                <a:solidFill>
                  <a:srgbClr val="1748B1"/>
                </a:solidFill>
                <a:latin typeface="맑은 고딕"/>
                <a:ea typeface="맑은 고딕"/>
                <a:cs typeface="맑은 고딕"/>
              </a:rPr>
              <a:t>·  </a:t>
            </a:r>
            <a:r>
              <a:rPr sz="115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원격관리 장비로 방문 없이 우선 AS</a:t>
            </a:r>
          </a:p>
          <a:p>
            <a:pPr algn="l">
              <a:lnSpc>
                <a:spcPct val="135000"/>
              </a:lnSpc>
            </a:pPr>
            <a:r>
              <a:rPr sz="1150" b="1">
                <a:solidFill>
                  <a:srgbClr val="1748B1"/>
                </a:solidFill>
                <a:latin typeface="맑은 고딕"/>
                <a:ea typeface="맑은 고딕"/>
                <a:cs typeface="맑은 고딕"/>
              </a:rPr>
              <a:t>·  </a:t>
            </a:r>
            <a:r>
              <a:rPr sz="115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과별 맞춤 PC · 진료불가 시 당일 AS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06824" y="3108960"/>
            <a:ext cx="357530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306824" y="3108960"/>
            <a:ext cx="3575304" cy="73152"/>
          </a:xfrm>
          <a:prstGeom prst="rect">
            <a:avLst/>
          </a:prstGeom>
          <a:solidFill>
            <a:srgbClr val="1748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81144" y="3337560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0A2C69"/>
                </a:solidFill>
                <a:latin typeface="맑은 고딕"/>
                <a:ea typeface="맑은 고딕"/>
                <a:cs typeface="맑은 고딕"/>
              </a:rPr>
              <a:t>보안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1968" y="3392424"/>
            <a:ext cx="292608" cy="292608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0" y="3392424"/>
            <a:ext cx="292608" cy="292608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96912" y="3392424"/>
            <a:ext cx="292608" cy="29260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4581144" y="3767328"/>
            <a:ext cx="30266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A97AB"/>
                </a:solidFill>
                <a:latin typeface="맑은 고딕"/>
                <a:ea typeface="맑은 고딕"/>
                <a:cs typeface="맑은 고딕"/>
              </a:rPr>
              <a:t>CCTV · 무인경비 · 출입통제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81144" y="4069080"/>
            <a:ext cx="3026664" cy="4539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dirty="0" err="1">
                <a:solidFill>
                  <a:srgbClr val="1748B1"/>
                </a:solidFill>
                <a:latin typeface="맑은 고딕"/>
                <a:ea typeface="맑은 고딕"/>
                <a:cs typeface="맑은 고딕"/>
              </a:rPr>
              <a:t>인테리어</a:t>
            </a:r>
            <a:r>
              <a:rPr lang="ko-KR" altLang="en-US" sz="1400" b="1" dirty="0">
                <a:solidFill>
                  <a:srgbClr val="1748B1"/>
                </a:solidFill>
                <a:latin typeface="맑은 고딕"/>
                <a:ea typeface="맑은 고딕"/>
                <a:cs typeface="맑은 고딕"/>
              </a:rPr>
              <a:t>는</a:t>
            </a:r>
            <a:r>
              <a:rPr sz="1400" b="1" dirty="0">
                <a:solidFill>
                  <a:srgbClr val="1748B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1748B1"/>
                </a:solidFill>
                <a:latin typeface="맑은 고딕"/>
                <a:ea typeface="맑은 고딕"/>
                <a:cs typeface="맑은 고딕"/>
              </a:rPr>
              <a:t>흐트러뜨리지</a:t>
            </a:r>
            <a:r>
              <a:rPr sz="1400" b="1" dirty="0">
                <a:solidFill>
                  <a:srgbClr val="1748B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1748B1"/>
                </a:solidFill>
                <a:latin typeface="맑은 고딕"/>
                <a:ea typeface="맑은 고딕"/>
                <a:cs typeface="맑은 고딕"/>
              </a:rPr>
              <a:t>않게</a:t>
            </a:r>
            <a:r>
              <a:rPr lang="en-US" sz="1400" b="1" dirty="0">
                <a:solidFill>
                  <a:srgbClr val="1748B1"/>
                </a:solidFill>
                <a:latin typeface="맑은 고딕"/>
                <a:ea typeface="맑은 고딕"/>
                <a:cs typeface="맑은 고딕"/>
              </a:rPr>
              <a:t>,</a:t>
            </a:r>
            <a:r>
              <a:rPr sz="1400" b="1" dirty="0">
                <a:solidFill>
                  <a:srgbClr val="1748B1"/>
                </a:solidFill>
                <a:latin typeface="맑은 고딕"/>
                <a:ea typeface="맑은 고딕"/>
                <a:cs typeface="맑은 고딕"/>
              </a:rPr>
              <a:t>
</a:t>
            </a:r>
            <a:r>
              <a:rPr sz="1400" b="1" dirty="0" err="1">
                <a:solidFill>
                  <a:srgbClr val="1748B1"/>
                </a:solidFill>
                <a:latin typeface="맑은 고딕"/>
                <a:ea typeface="맑은 고딕"/>
                <a:cs typeface="맑은 고딕"/>
              </a:rPr>
              <a:t>병원</a:t>
            </a:r>
            <a:r>
              <a:rPr lang="ko-KR" altLang="en-US" sz="1400" b="1" dirty="0">
                <a:solidFill>
                  <a:srgbClr val="1748B1"/>
                </a:solidFill>
                <a:latin typeface="맑은 고딕"/>
                <a:ea typeface="맑은 고딕"/>
                <a:cs typeface="맑은 고딕"/>
              </a:rPr>
              <a:t>은</a:t>
            </a:r>
            <a:r>
              <a:rPr sz="1400" b="1" dirty="0">
                <a:solidFill>
                  <a:srgbClr val="1748B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1748B1"/>
                </a:solidFill>
                <a:latin typeface="맑은 고딕"/>
                <a:ea typeface="맑은 고딕"/>
                <a:cs typeface="맑은 고딕"/>
              </a:rPr>
              <a:t>지켜주는</a:t>
            </a:r>
            <a:endParaRPr sz="1400" b="1" dirty="0">
              <a:solidFill>
                <a:srgbClr val="1748B1"/>
              </a:solidFill>
              <a:latin typeface="맑은 고딕"/>
              <a:ea typeface="맑은 고딕"/>
              <a:cs typeface="맑은 고딕"/>
            </a:endParaRPr>
          </a:p>
        </p:txBody>
      </p:sp>
      <p:cxnSp>
        <p:nvCxnSpPr>
          <p:cNvPr id="37" name="Connector 36"/>
          <p:cNvCxnSpPr/>
          <p:nvPr/>
        </p:nvCxnSpPr>
        <p:spPr>
          <a:xfrm>
            <a:off x="4581144" y="4846320"/>
            <a:ext cx="3026664" cy="0"/>
          </a:xfrm>
          <a:prstGeom prst="line">
            <a:avLst/>
          </a:prstGeom>
          <a:ln w="9525">
            <a:solidFill>
              <a:srgbClr val="E3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581144" y="4956048"/>
            <a:ext cx="302666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1">
                <a:solidFill>
                  <a:srgbClr val="1748B1"/>
                </a:solidFill>
                <a:latin typeface="맑은 고딕"/>
                <a:ea typeface="맑은 고딕"/>
                <a:cs typeface="맑은 고딕"/>
              </a:rPr>
              <a:t>·  </a:t>
            </a:r>
            <a:r>
              <a:rPr sz="115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배선·부착 전 현장소장님과 사전 협의</a:t>
            </a:r>
          </a:p>
          <a:p>
            <a:pPr algn="l">
              <a:lnSpc>
                <a:spcPct val="135000"/>
              </a:lnSpc>
            </a:pPr>
            <a:r>
              <a:rPr sz="1150" b="1">
                <a:solidFill>
                  <a:srgbClr val="1748B1"/>
                </a:solidFill>
                <a:latin typeface="맑은 고딕"/>
                <a:ea typeface="맑은 고딕"/>
                <a:cs typeface="맑은 고딕"/>
              </a:rPr>
              <a:t>·  </a:t>
            </a:r>
            <a:r>
              <a:rPr sz="115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준공청소 다음날 경비 개시</a:t>
            </a:r>
          </a:p>
          <a:p>
            <a:pPr algn="l">
              <a:lnSpc>
                <a:spcPct val="135000"/>
              </a:lnSpc>
            </a:pPr>
            <a:r>
              <a:rPr sz="1150" b="1">
                <a:solidFill>
                  <a:srgbClr val="1748B1"/>
                </a:solidFill>
                <a:latin typeface="맑은 고딕"/>
                <a:ea typeface="맑은 고딕"/>
                <a:cs typeface="맑은 고딕"/>
              </a:rPr>
              <a:t>·  </a:t>
            </a:r>
            <a:r>
              <a:rPr sz="115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자사 PC 설치 후 근태 앱까지 셋팅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56448" y="3108960"/>
            <a:ext cx="357530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156448" y="3108960"/>
            <a:ext cx="3575304" cy="73152"/>
          </a:xfrm>
          <a:prstGeom prst="rect">
            <a:avLst/>
          </a:prstGeom>
          <a:solidFill>
            <a:srgbClr val="1748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430768" y="3337560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0A2C69"/>
                </a:solidFill>
                <a:latin typeface="맑은 고딕"/>
                <a:ea typeface="맑은 고딕"/>
                <a:cs typeface="맑은 고딕"/>
              </a:rPr>
              <a:t>가전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51591" y="3392424"/>
            <a:ext cx="292608" cy="292608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99063" y="3392424"/>
            <a:ext cx="292608" cy="292608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46535" y="3392424"/>
            <a:ext cx="292608" cy="292608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8430768" y="3767328"/>
            <a:ext cx="30266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A97AB"/>
                </a:solidFill>
                <a:latin typeface="맑은 고딕"/>
                <a:ea typeface="맑은 고딕"/>
                <a:cs typeface="맑은 고딕"/>
              </a:rPr>
              <a:t>생활가전 · 디스플레이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30768" y="4069080"/>
            <a:ext cx="302666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748B1"/>
                </a:solidFill>
                <a:latin typeface="맑은 고딕"/>
                <a:ea typeface="맑은 고딕"/>
                <a:cs typeface="맑은 고딕"/>
              </a:rPr>
              <a:t>납기 및 사후관리를
책임지는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8430768" y="4846320"/>
            <a:ext cx="3026664" cy="0"/>
          </a:xfrm>
          <a:prstGeom prst="line">
            <a:avLst/>
          </a:prstGeom>
          <a:ln w="9525">
            <a:solidFill>
              <a:srgbClr val="E3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8430768" y="4956048"/>
            <a:ext cx="302666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1">
                <a:solidFill>
                  <a:srgbClr val="1748B1"/>
                </a:solidFill>
                <a:latin typeface="맑은 고딕"/>
                <a:ea typeface="맑은 고딕"/>
                <a:cs typeface="맑은 고딕"/>
              </a:rPr>
              <a:t>·  </a:t>
            </a:r>
            <a:r>
              <a:rPr sz="115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공정에 맞춘 납기 관리 · 수도설비 사전 체크</a:t>
            </a:r>
          </a:p>
          <a:p>
            <a:pPr algn="l">
              <a:lnSpc>
                <a:spcPct val="135000"/>
              </a:lnSpc>
            </a:pPr>
            <a:r>
              <a:rPr sz="1150" b="1">
                <a:solidFill>
                  <a:srgbClr val="1748B1"/>
                </a:solidFill>
                <a:latin typeface="맑은 고딕"/>
                <a:ea typeface="맑은 고딕"/>
                <a:cs typeface="맑은 고딕"/>
              </a:rPr>
              <a:t>·  </a:t>
            </a:r>
            <a:r>
              <a:rPr sz="115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기기 제원 공유 · PC 연결 셋팅</a:t>
            </a:r>
          </a:p>
          <a:p>
            <a:pPr algn="l">
              <a:lnSpc>
                <a:spcPct val="135000"/>
              </a:lnSpc>
            </a:pPr>
            <a:r>
              <a:rPr sz="1150" b="1">
                <a:solidFill>
                  <a:srgbClr val="1748B1"/>
                </a:solidFill>
                <a:latin typeface="맑은 고딕"/>
                <a:ea typeface="맑은 고딕"/>
                <a:cs typeface="맑은 고딕"/>
              </a:rPr>
              <a:t>·  </a:t>
            </a:r>
            <a:r>
              <a:rPr sz="115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납품 후 AS 관리 대행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457200" y="329184"/>
            <a:ext cx="2505456" cy="347472"/>
          </a:xfrm>
          <a:prstGeom prst="roundRect">
            <a:avLst>
              <a:gd name="adj" fmla="val 50000"/>
            </a:avLst>
          </a:prstGeom>
          <a:solidFill>
            <a:srgbClr val="1748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Text Placeholder 1"/>
          <p:cNvSpPr>
            <a:spLocks noGrp="1"/>
          </p:cNvSpPr>
          <p:nvPr>
            <p:ph type="body" idx="104"/>
          </p:nvPr>
        </p:nvSpPr>
        <p:spPr>
          <a:xfrm>
            <a:off x="457200" y="329184"/>
            <a:ext cx="2505456" cy="347472"/>
          </a:xfrm>
        </p:spPr>
        <p:txBody>
          <a:bodyPr lIns="0" tIns="0" rIns="0" bIns="0" anchor="ctr"/>
          <a:lstStyle/>
          <a:p>
            <a:r>
              <a:t>통신  [통신사 · 네트워크 · PC]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5"/>
          </p:nvPr>
        </p:nvSpPr>
        <p:spPr>
          <a:xfrm>
            <a:off x="457200" y="731520"/>
            <a:ext cx="8686800" cy="548640"/>
          </a:xfrm>
        </p:spPr>
        <p:txBody>
          <a:bodyPr lIns="0" tIns="0" rIns="0" bIns="0" anchor="ctr"/>
          <a:lstStyle/>
          <a:p>
            <a:r>
              <a:t>하나의 밸류체인으로, 안전하고 편리하게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2" y="643737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프로젝트 : 다나음 정형외과   |   무아디자인 협력업체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44168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인터넷이 끊기면 진료가 멈춥니다. 통신·네트워크·PC를 업체별로 나누면, 장애가 났을 때 “우리 쪽 문제가 아니다”라는 말부터 듣게 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74519"/>
            <a:ext cx="525780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2103120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FD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D93B3B"/>
                </a:solidFill>
                <a:latin typeface="맑은 고딕"/>
                <a:ea typeface="맑은 고딕"/>
                <a:cs typeface="맑은 고딕"/>
              </a:rPr>
              <a:t>업체 분리 발주 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51760"/>
            <a:ext cx="1828800" cy="548640"/>
          </a:xfrm>
          <a:prstGeom prst="roundRect">
            <a:avLst>
              <a:gd name="adj" fmla="val 12000"/>
            </a:avLst>
          </a:prstGeom>
          <a:solidFill>
            <a:srgbClr val="F3F6FD"/>
          </a:solidFill>
          <a:ln w="9525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651760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통신사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65176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D93B3B"/>
                </a:solidFill>
                <a:latin typeface="맑은 고딕"/>
                <a:ea typeface="맑은 고딕"/>
                <a:cs typeface="맑은 고딕"/>
              </a:rPr>
              <a:t>“회선은 정상입니다”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64991"/>
            <a:ext cx="1828800" cy="548640"/>
          </a:xfrm>
          <a:prstGeom prst="roundRect">
            <a:avLst>
              <a:gd name="adj" fmla="val 12000"/>
            </a:avLst>
          </a:prstGeom>
          <a:solidFill>
            <a:srgbClr val="F3F6FD"/>
          </a:solidFill>
          <a:ln w="9525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3364991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네트워크 업체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364991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D93B3B"/>
                </a:solidFill>
                <a:latin typeface="맑은 고딕"/>
                <a:ea typeface="맑은 고딕"/>
                <a:cs typeface="맑은 고딕"/>
              </a:rPr>
              <a:t>“PC 쪽 문제 같아요”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078224"/>
            <a:ext cx="1828800" cy="548640"/>
          </a:xfrm>
          <a:prstGeom prst="roundRect">
            <a:avLst>
              <a:gd name="adj" fmla="val 12000"/>
            </a:avLst>
          </a:prstGeom>
          <a:solidFill>
            <a:srgbClr val="F3F6FD"/>
          </a:solidFill>
          <a:ln w="9525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4078224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PC 업체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078224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D93B3B"/>
                </a:solidFill>
                <a:latin typeface="맑은 고딕"/>
                <a:ea typeface="맑은 고딕"/>
                <a:cs typeface="맑은 고딕"/>
              </a:rPr>
              <a:t>“인터넷 문제입니다”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892040"/>
            <a:ext cx="4709160" cy="914400"/>
          </a:xfrm>
          <a:prstGeom prst="roundRect">
            <a:avLst>
              <a:gd name="adj" fmla="val 10000"/>
            </a:avLst>
          </a:prstGeom>
          <a:solidFill>
            <a:srgbClr val="FD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892040"/>
            <a:ext cx="43434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D93B3B"/>
                </a:solidFill>
                <a:latin typeface="맑은 고딕"/>
                <a:ea typeface="맑은 고딕"/>
                <a:cs typeface="맑은 고딕"/>
              </a:rPr>
              <a:t>업체 간 책임 전가</a:t>
            </a:r>
          </a:p>
          <a:p>
            <a:pPr algn="l">
              <a:lnSpc>
                <a:spcPct val="120000"/>
              </a:lnSpc>
            </a:pPr>
            <a:r>
              <a:rPr sz="1150" b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원인 파악이 늦어지고, 그동안 진료와 접수가 멈춥니다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897880" y="3611880"/>
            <a:ext cx="411480" cy="502920"/>
          </a:xfrm>
          <a:prstGeom prst="rightArrow">
            <a:avLst/>
          </a:prstGeom>
          <a:solidFill>
            <a:srgbClr val="C8D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492240" y="1874519"/>
            <a:ext cx="5239512" cy="4206240"/>
          </a:xfrm>
          <a:prstGeom prst="roundRect">
            <a:avLst>
              <a:gd name="adj" fmla="val 6000"/>
            </a:avLst>
          </a:prstGeom>
          <a:solidFill>
            <a:srgbClr val="0A2C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766559" y="210312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1748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핸드쉐이크 원스톱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59" y="2606039"/>
            <a:ext cx="46908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하나의 창구가 처음부터 끝까지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66559" y="3200400"/>
            <a:ext cx="1441704" cy="868680"/>
          </a:xfrm>
          <a:prstGeom prst="roundRect">
            <a:avLst>
              <a:gd name="adj" fmla="val 10000"/>
            </a:avLst>
          </a:prstGeom>
          <a:solidFill>
            <a:srgbClr val="143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66559" y="3264408"/>
            <a:ext cx="1441704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통신사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59" y="3657600"/>
            <a:ext cx="1441704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C8D6F0"/>
                </a:solidFill>
                <a:latin typeface="맑은 고딕"/>
                <a:ea typeface="맑은 고딕"/>
                <a:cs typeface="맑은 고딕"/>
              </a:rPr>
              <a:t>인터넷·전화 개통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91144" y="3200400"/>
            <a:ext cx="1441704" cy="868680"/>
          </a:xfrm>
          <a:prstGeom prst="roundRect">
            <a:avLst>
              <a:gd name="adj" fmla="val 10000"/>
            </a:avLst>
          </a:prstGeom>
          <a:solidFill>
            <a:srgbClr val="143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91144" y="3264408"/>
            <a:ext cx="1441704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네트워크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1144" y="3657600"/>
            <a:ext cx="1441704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C8D6F0"/>
                </a:solidFill>
                <a:latin typeface="맑은 고딕"/>
                <a:ea typeface="맑은 고딕"/>
                <a:cs typeface="맑은 고딕"/>
              </a:rPr>
              <a:t>공유기·허브·WIFI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15728" y="3200400"/>
            <a:ext cx="1441704" cy="868680"/>
          </a:xfrm>
          <a:prstGeom prst="roundRect">
            <a:avLst>
              <a:gd name="adj" fmla="val 10000"/>
            </a:avLst>
          </a:prstGeom>
          <a:solidFill>
            <a:srgbClr val="143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015728" y="3264408"/>
            <a:ext cx="1441704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PC·주변기기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15728" y="3657600"/>
            <a:ext cx="1441704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C8D6F0"/>
                </a:solidFill>
                <a:latin typeface="맑은 고딕"/>
                <a:ea typeface="맑은 고딕"/>
                <a:cs typeface="맑은 고딕"/>
              </a:rPr>
              <a:t>PC·프린터·복합기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766559" y="4343400"/>
            <a:ext cx="4690873" cy="0"/>
          </a:xfrm>
          <a:prstGeom prst="line">
            <a:avLst/>
          </a:prstGeom>
          <a:ln w="9525">
            <a:solidFill>
              <a:srgbClr val="2A4E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766559" y="448056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책임 소재 하나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3879" y="4480560"/>
            <a:ext cx="327355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C8D6F0"/>
                </a:solidFill>
                <a:latin typeface="맑은 고딕"/>
                <a:ea typeface="맑은 고딕"/>
                <a:cs typeface="맑은 고딕"/>
              </a:rPr>
              <a:t>장애 원인을 업체끼리 미루지 않고 핸드쉐이크가 직접 확인·조치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59" y="498348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일정 하나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83879" y="4983480"/>
            <a:ext cx="327355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C8D6F0"/>
                </a:solidFill>
                <a:latin typeface="맑은 고딕"/>
                <a:ea typeface="맑은 고딕"/>
                <a:cs typeface="맑은 고딕"/>
              </a:rPr>
              <a:t>개통·네트워크·PC 설치를 준공청소 다음날 하루에 맞춰 진행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59" y="548640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연락처 하나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83879" y="5486400"/>
            <a:ext cx="327355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C8D6F0"/>
                </a:solidFill>
                <a:latin typeface="맑은 고딕"/>
                <a:ea typeface="맑은 고딕"/>
                <a:cs typeface="맑은 고딕"/>
              </a:rPr>
              <a:t>병원별 관리방에서 문의부터 AS까지 한 번에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457200" y="329184"/>
            <a:ext cx="2505456" cy="347472"/>
          </a:xfrm>
          <a:prstGeom prst="roundRect">
            <a:avLst>
              <a:gd name="adj" fmla="val 50000"/>
            </a:avLst>
          </a:prstGeom>
          <a:solidFill>
            <a:srgbClr val="1748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Text Placeholder 1"/>
          <p:cNvSpPr>
            <a:spLocks noGrp="1"/>
          </p:cNvSpPr>
          <p:nvPr>
            <p:ph type="body" idx="104"/>
          </p:nvPr>
        </p:nvSpPr>
        <p:spPr>
          <a:xfrm>
            <a:off x="457200" y="329184"/>
            <a:ext cx="2505456" cy="347472"/>
          </a:xfrm>
        </p:spPr>
        <p:txBody>
          <a:bodyPr lIns="0" tIns="0" rIns="0" bIns="0" anchor="ctr"/>
          <a:lstStyle/>
          <a:p>
            <a:r>
              <a:t>통신  [통신사 · 네트워크 · PC]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5"/>
          </p:nvPr>
        </p:nvSpPr>
        <p:spPr>
          <a:xfrm>
            <a:off x="457200" y="731520"/>
            <a:ext cx="8686800" cy="548640"/>
          </a:xfrm>
        </p:spPr>
        <p:txBody>
          <a:bodyPr lIns="0" tIns="0" rIns="0" bIns="0" anchor="ctr"/>
          <a:lstStyle/>
          <a:p>
            <a:r>
              <a:t>품목별로 더해지는 안심 장치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2" y="6474508"/>
            <a:ext cx="640080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3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프로젝트</a:t>
            </a:r>
            <a:r>
              <a:rPr sz="13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: </a:t>
            </a:r>
            <a:r>
              <a:rPr sz="13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다나음 정형외과</a:t>
            </a:r>
            <a:r>
              <a:rPr sz="13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  | </a:t>
            </a:r>
            <a:r>
              <a:rPr lang="ko-KR" altLang="en-US" sz="13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무아디자인</a:t>
            </a:r>
            <a:r>
              <a:rPr lang="ko-KR" altLang="en-US" sz="13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협력업체</a:t>
            </a:r>
            <a:endParaRPr sz="13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575304" cy="4754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365760" cy="36576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645920"/>
            <a:ext cx="365760" cy="36576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3346704" y="1645920"/>
            <a:ext cx="384048" cy="384048"/>
          </a:xfrm>
          <a:prstGeom prst="ellipse">
            <a:avLst/>
          </a:prstGeom>
          <a:solidFill>
            <a:srgbClr val="0A2C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302666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0A2C69"/>
                </a:solidFill>
                <a:latin typeface="맑은 고딕"/>
                <a:ea typeface="맑은 고딕"/>
                <a:cs typeface="맑은 고딕"/>
              </a:rPr>
              <a:t>통신사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51760"/>
            <a:ext cx="302666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748B1"/>
                </a:solidFill>
                <a:latin typeface="맑은 고딕"/>
                <a:ea typeface="맑은 고딕"/>
                <a:cs typeface="맑은 고딕"/>
              </a:rPr>
              <a:t>장애 시 LTE 라우터로 자동 백업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91840"/>
            <a:ext cx="302666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통신사 회선 장애가 나도 LTE 백업 라우터가 즉시 인터넷을 이어받아, 접수·차트·결제가 멈추지 않습니다.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526280"/>
            <a:ext cx="3209544" cy="1417320"/>
          </a:xfrm>
          <a:prstGeom prst="roundRect">
            <a:avLst>
              <a:gd name="adj" fmla="val 8000"/>
            </a:avLst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4617720"/>
            <a:ext cx="28437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748B1"/>
                </a:solidFill>
                <a:latin typeface="맑은 고딕"/>
                <a:ea typeface="맑은 고딕"/>
                <a:cs typeface="맑은 고딕"/>
              </a:rPr>
              <a:t>이번 견적 적용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919472"/>
            <a:ext cx="284378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748B1"/>
                </a:solidFill>
                <a:latin typeface="맑은 고딕"/>
                <a:ea typeface="맑은 고딕"/>
                <a:cs typeface="맑은 고딕"/>
              </a:rPr>
              <a:t>✓  </a:t>
            </a:r>
            <a:r>
              <a:rPr sz="110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KT 1G 오피스넷 인터넷 (업무망)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1748B1"/>
                </a:solidFill>
                <a:latin typeface="맑은 고딕"/>
                <a:ea typeface="맑은 고딕"/>
                <a:cs typeface="맑은 고딕"/>
              </a:rPr>
              <a:t>✓  </a:t>
            </a:r>
            <a:r>
              <a:rPr sz="110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백업 라우터 MR100 포함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1748B1"/>
                </a:solidFill>
                <a:latin typeface="맑은 고딕"/>
                <a:ea typeface="맑은 고딕"/>
                <a:cs typeface="맑은 고딕"/>
              </a:rPr>
              <a:t>✓  </a:t>
            </a:r>
            <a:r>
              <a:rPr sz="110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전화 4회선 · FAX · 업무용 휴대폰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06824" y="1371600"/>
            <a:ext cx="3575304" cy="4754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1144" y="1645920"/>
            <a:ext cx="365760" cy="36576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8344" y="1645920"/>
            <a:ext cx="365760" cy="365760"/>
          </a:xfrm>
          <a:prstGeom prst="rect">
            <a:avLst/>
          </a:prstGeom>
        </p:spPr>
      </p:pic>
      <p:sp>
        <p:nvSpPr>
          <p:cNvPr id="19" name="Oval 18"/>
          <p:cNvSpPr/>
          <p:nvPr/>
        </p:nvSpPr>
        <p:spPr>
          <a:xfrm>
            <a:off x="7196328" y="1645920"/>
            <a:ext cx="384048" cy="384048"/>
          </a:xfrm>
          <a:prstGeom prst="ellipse">
            <a:avLst/>
          </a:prstGeom>
          <a:solidFill>
            <a:srgbClr val="0A2C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144" y="2194560"/>
            <a:ext cx="302666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0A2C69"/>
                </a:solidFill>
                <a:latin typeface="맑은 고딕"/>
                <a:ea typeface="맑은 고딕"/>
                <a:cs typeface="맑은 고딕"/>
              </a:rPr>
              <a:t>네트워크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81144" y="2651760"/>
            <a:ext cx="302666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748B1"/>
                </a:solidFill>
                <a:latin typeface="맑은 고딕"/>
                <a:ea typeface="맑은 고딕"/>
                <a:cs typeface="맑은 고딕"/>
              </a:rPr>
              <a:t>원격관리 장비로 방문 없이 우선 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81144" y="3291840"/>
            <a:ext cx="302666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TP-LINK Omada 원격관리 장비를 사용해, 기사 방문을 기다리지 않고 원격으로 먼저 진단·조치합니다.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9704" y="4526280"/>
            <a:ext cx="3209544" cy="1417320"/>
          </a:xfrm>
          <a:prstGeom prst="roundRect">
            <a:avLst>
              <a:gd name="adj" fmla="val 8000"/>
            </a:avLst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72584" y="4617720"/>
            <a:ext cx="28437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748B1"/>
                </a:solidFill>
                <a:latin typeface="맑은 고딕"/>
                <a:ea typeface="맑은 고딕"/>
                <a:cs typeface="맑은 고딕"/>
              </a:rPr>
              <a:t>이번 견적 적용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72584" y="4919472"/>
            <a:ext cx="284378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748B1"/>
                </a:solidFill>
                <a:latin typeface="맑은 고딕"/>
                <a:ea typeface="맑은 고딕"/>
                <a:cs typeface="맑은 고딕"/>
              </a:rPr>
              <a:t>✓  </a:t>
            </a:r>
            <a:r>
              <a:rPr sz="110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Omada 스위칭허브 28포트 ×2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1748B1"/>
                </a:solidFill>
                <a:latin typeface="맑은 고딕"/>
                <a:ea typeface="맑은 고딕"/>
                <a:cs typeface="맑은 고딕"/>
              </a:rPr>
              <a:t>✓  </a:t>
            </a:r>
            <a:r>
              <a:rPr sz="110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Omada 천장 WIFI(PoE) ×3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1748B1"/>
                </a:solidFill>
                <a:latin typeface="맑은 고딕"/>
                <a:ea typeface="맑은 고딕"/>
                <a:cs typeface="맑은 고딕"/>
              </a:rPr>
              <a:t>✓  </a:t>
            </a:r>
            <a:r>
              <a:rPr sz="110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네트워크 장비·공사 무상 지원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56448" y="1371600"/>
            <a:ext cx="3575304" cy="4754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0768" y="1645920"/>
            <a:ext cx="365760" cy="36576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87968" y="1645920"/>
            <a:ext cx="365760" cy="365760"/>
          </a:xfrm>
          <a:prstGeom prst="rect">
            <a:avLst/>
          </a:prstGeom>
        </p:spPr>
      </p:pic>
      <p:sp>
        <p:nvSpPr>
          <p:cNvPr id="29" name="Oval 28"/>
          <p:cNvSpPr/>
          <p:nvPr/>
        </p:nvSpPr>
        <p:spPr>
          <a:xfrm>
            <a:off x="11045952" y="1645920"/>
            <a:ext cx="384048" cy="384048"/>
          </a:xfrm>
          <a:prstGeom prst="ellipse">
            <a:avLst/>
          </a:prstGeom>
          <a:solidFill>
            <a:srgbClr val="0A2C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0768" y="2194560"/>
            <a:ext cx="302666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0A2C69"/>
                </a:solidFill>
                <a:latin typeface="맑은 고딕"/>
                <a:ea typeface="맑은 고딕"/>
                <a:cs typeface="맑은 고딕"/>
              </a:rPr>
              <a:t>PC · 주변기기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30768" y="2651760"/>
            <a:ext cx="302666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748B1"/>
                </a:solidFill>
                <a:latin typeface="맑은 고딕"/>
                <a:ea typeface="맑은 고딕"/>
                <a:cs typeface="맑은 고딕"/>
              </a:rPr>
              <a:t>과별 맞춤 제안, 진료불가 시 당일 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30768" y="3291840"/>
            <a:ext cx="302666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진료과와 용도에 맞는 사양만 골라 제안하고, 진료가 불가한 장애는 당일 방문 AS로 해결합니다.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39327" y="4526280"/>
            <a:ext cx="3209544" cy="1417320"/>
          </a:xfrm>
          <a:prstGeom prst="roundRect">
            <a:avLst>
              <a:gd name="adj" fmla="val 8000"/>
            </a:avLst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522208" y="4617720"/>
            <a:ext cx="28437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748B1"/>
                </a:solidFill>
                <a:latin typeface="맑은 고딕"/>
                <a:ea typeface="맑은 고딕"/>
                <a:cs typeface="맑은 고딕"/>
              </a:rPr>
              <a:t>이번 견적 적용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22208" y="4919472"/>
            <a:ext cx="284378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748B1"/>
                </a:solidFill>
                <a:latin typeface="맑은 고딕"/>
                <a:ea typeface="맑은 고딕"/>
                <a:cs typeface="맑은 고딕"/>
              </a:rPr>
              <a:t>✓  </a:t>
            </a:r>
            <a:r>
              <a:rPr sz="110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EMR 서버부터 간호 일체형까지 PC 11대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1748B1"/>
                </a:solidFill>
                <a:latin typeface="맑은 고딕"/>
                <a:ea typeface="맑은 고딕"/>
                <a:cs typeface="맑은 고딕"/>
              </a:rPr>
              <a:t>✓  </a:t>
            </a:r>
            <a:r>
              <a:rPr sz="110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듀얼 모니터암 · KVM · 공유폴더 HDD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1748B1"/>
                </a:solidFill>
                <a:latin typeface="맑은 고딕"/>
                <a:ea typeface="맑은 고딕"/>
                <a:cs typeface="맑은 고딕"/>
              </a:rPr>
              <a:t>✓  </a:t>
            </a:r>
            <a:r>
              <a:rPr sz="110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토요일 AS 근무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457200" y="329184"/>
            <a:ext cx="2505456" cy="347472"/>
          </a:xfrm>
          <a:prstGeom prst="roundRect">
            <a:avLst>
              <a:gd name="adj" fmla="val 50000"/>
            </a:avLst>
          </a:prstGeom>
          <a:solidFill>
            <a:srgbClr val="1748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Text Placeholder 1"/>
          <p:cNvSpPr>
            <a:spLocks noGrp="1"/>
          </p:cNvSpPr>
          <p:nvPr>
            <p:ph type="body" idx="104"/>
          </p:nvPr>
        </p:nvSpPr>
        <p:spPr>
          <a:xfrm>
            <a:off x="457200" y="329184"/>
            <a:ext cx="2505456" cy="347472"/>
          </a:xfrm>
        </p:spPr>
        <p:txBody>
          <a:bodyPr lIns="0" tIns="0" rIns="0" bIns="0" anchor="ctr"/>
          <a:lstStyle/>
          <a:p>
            <a:r>
              <a:t>통신  [통신사 · 네트워크 · PC]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5"/>
          </p:nvPr>
        </p:nvSpPr>
        <p:spPr>
          <a:xfrm>
            <a:off x="457200" y="731520"/>
            <a:ext cx="8686800" cy="548640"/>
          </a:xfrm>
        </p:spPr>
        <p:txBody>
          <a:bodyPr lIns="0" tIns="0" rIns="0" bIns="0" anchor="ctr"/>
          <a:lstStyle/>
          <a:p>
            <a:r>
              <a:t>통신 견적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2" y="6474508"/>
            <a:ext cx="640080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3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프로젝트</a:t>
            </a:r>
            <a:r>
              <a:rPr sz="13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: </a:t>
            </a:r>
            <a:r>
              <a:rPr sz="13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다나음 정형외과</a:t>
            </a:r>
            <a:r>
              <a:rPr sz="13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  | </a:t>
            </a:r>
            <a:r>
              <a:rPr lang="ko-KR" altLang="en-US" sz="13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무아디자인</a:t>
            </a:r>
            <a:r>
              <a:rPr lang="ko-KR" altLang="en-US" sz="13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협력업체</a:t>
            </a:r>
            <a:endParaRPr sz="13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57200" y="1325880"/>
            <a:ext cx="5120640" cy="4800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A2C69"/>
                </a:solidFill>
                <a:latin typeface="맑은 고딕"/>
                <a:ea typeface="맑은 고딕"/>
                <a:cs typeface="맑은 고딕"/>
              </a:rPr>
              <a:t>월 이용료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46304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>
                <a:solidFill>
                  <a:srgbClr val="8A97AB"/>
                </a:solidFill>
                <a:latin typeface="맑은 고딕"/>
                <a:ea typeface="맑은 고딕"/>
                <a:cs typeface="맑은 고딕"/>
              </a:rPr>
              <a:t>약정 36개월 · VAT 별도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74519"/>
            <a:ext cx="4572000" cy="292608"/>
          </a:xfrm>
          <a:prstGeom prst="rect">
            <a:avLst/>
          </a:prstGeom>
          <a:solidFill>
            <a:srgbClr val="0A2C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874519"/>
            <a:ext cx="29260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품목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874519"/>
            <a:ext cx="2743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수량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874519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월 요금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167127"/>
            <a:ext cx="29260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KT 1G 오피스넷 인터넷 (업무망)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167127"/>
            <a:ext cx="2743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167127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5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45,000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31520" y="2459735"/>
            <a:ext cx="4572000" cy="0"/>
          </a:xfrm>
          <a:prstGeom prst="line">
            <a:avLst/>
          </a:prstGeom>
          <a:ln w="9525">
            <a:solidFill>
              <a:srgbClr val="E3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22960" y="2459735"/>
            <a:ext cx="29260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전화 자유70 요금제 (단말기 포함)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2459735"/>
            <a:ext cx="2743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459735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5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24,000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31520" y="2752343"/>
            <a:ext cx="4572000" cy="0"/>
          </a:xfrm>
          <a:prstGeom prst="line">
            <a:avLst/>
          </a:prstGeom>
          <a:ln w="9525">
            <a:solidFill>
              <a:srgbClr val="E3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22960" y="2752343"/>
            <a:ext cx="29260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FAX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2752343"/>
            <a:ext cx="2743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2752343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5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5,500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31520" y="3044951"/>
            <a:ext cx="4572000" cy="0"/>
          </a:xfrm>
          <a:prstGeom prst="line">
            <a:avLst/>
          </a:prstGeom>
          <a:ln w="9525">
            <a:solidFill>
              <a:srgbClr val="E3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22960" y="3044951"/>
            <a:ext cx="29260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748B1"/>
                </a:solidFill>
                <a:latin typeface="맑은 고딕"/>
                <a:ea typeface="맑은 고딕"/>
                <a:cs typeface="맑은 고딕"/>
              </a:rPr>
              <a:t>오피스넷·전화 결합할인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3044951"/>
            <a:ext cx="2743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3044951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50" b="0">
                <a:solidFill>
                  <a:srgbClr val="1748B1"/>
                </a:solidFill>
                <a:latin typeface="맑은 고딕"/>
                <a:ea typeface="맑은 고딕"/>
                <a:cs typeface="맑은 고딕"/>
              </a:rPr>
              <a:t>-4,500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31520" y="3337559"/>
            <a:ext cx="4572000" cy="0"/>
          </a:xfrm>
          <a:prstGeom prst="line">
            <a:avLst/>
          </a:prstGeom>
          <a:ln w="9525">
            <a:solidFill>
              <a:srgbClr val="E3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22960" y="3337559"/>
            <a:ext cx="29260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업무용 휴대폰 (갤럭시 A17 무상 제공)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0" y="3337559"/>
            <a:ext cx="2743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3337559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5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37,000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31520" y="3630167"/>
            <a:ext cx="4572000" cy="0"/>
          </a:xfrm>
          <a:prstGeom prst="line">
            <a:avLst/>
          </a:prstGeom>
          <a:ln w="9525">
            <a:solidFill>
              <a:srgbClr val="E3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22960" y="3630167"/>
            <a:ext cx="29260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748B1"/>
                </a:solidFill>
                <a:latin typeface="맑은 고딕"/>
                <a:ea typeface="맑은 고딕"/>
                <a:cs typeface="맑은 고딕"/>
              </a:rPr>
              <a:t>휴대폰·인터넷 결합할인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31920" y="3630167"/>
            <a:ext cx="2743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3630167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50" b="0">
                <a:solidFill>
                  <a:srgbClr val="1748B1"/>
                </a:solidFill>
                <a:latin typeface="맑은 고딕"/>
                <a:ea typeface="맑은 고딕"/>
                <a:cs typeface="맑은 고딕"/>
              </a:rPr>
              <a:t>-5,000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31520" y="3922775"/>
            <a:ext cx="4572000" cy="0"/>
          </a:xfrm>
          <a:prstGeom prst="line">
            <a:avLst/>
          </a:prstGeom>
          <a:ln w="9525">
            <a:solidFill>
              <a:srgbClr val="E3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731520" y="3959351"/>
            <a:ext cx="4572000" cy="347472"/>
          </a:xfrm>
          <a:prstGeom prst="rect">
            <a:avLst/>
          </a:prstGeom>
          <a:solidFill>
            <a:srgbClr val="DCE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1248" y="3959351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A2C69"/>
                </a:solidFill>
                <a:latin typeface="맑은 고딕"/>
                <a:ea typeface="맑은 고딕"/>
                <a:cs typeface="맑은 고딕"/>
              </a:rPr>
              <a:t>통신 월 합계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60320" y="3959351"/>
            <a:ext cx="2633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50" b="1">
                <a:solidFill>
                  <a:srgbClr val="1748B1"/>
                </a:solidFill>
                <a:latin typeface="맑은 고딕"/>
                <a:ea typeface="맑은 고딕"/>
                <a:cs typeface="맑은 고딕"/>
              </a:rPr>
              <a:t>102,000원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379975"/>
            <a:ext cx="45720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748B1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000" b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월 약 25분 이상 발신하면 종량제(기본 3,800원 + 초당 1.5원)보다 자유70 요금제가 유리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1748B1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000" b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업무용 휴대폰: 퇴사·채용 시에도 병원 번호 유지, 채용사이트에 대표번호 노출 방지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1748B1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000" b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첫 달 설치비 108,000원(인터넷·전화·FAX) 중 </a:t>
            </a:r>
            <a:r>
              <a:rPr sz="1000" b="1">
                <a:solidFill>
                  <a:srgbClr val="1748B1"/>
                </a:solidFill>
                <a:latin typeface="맑은 고딕"/>
                <a:ea typeface="맑은 고딕"/>
                <a:cs typeface="맑은 고딕"/>
              </a:rPr>
              <a:t>100,000원 핸드쉐이크 지원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852160" y="1325880"/>
            <a:ext cx="5879592" cy="4800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126480" y="146304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A2C69"/>
                </a:solidFill>
                <a:latin typeface="맑은 고딕"/>
                <a:ea typeface="맑은 고딕"/>
                <a:cs typeface="맑은 고딕"/>
              </a:rPr>
              <a:t>PC · 네트워크 구매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0" y="1463040"/>
            <a:ext cx="3044951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>
                <a:solidFill>
                  <a:srgbClr val="8A97AB"/>
                </a:solidFill>
                <a:latin typeface="맑은 고딕"/>
                <a:ea typeface="맑은 고딕"/>
                <a:cs typeface="맑은 고딕"/>
              </a:rPr>
              <a:t>2026.10.02 단가 기준 · VAT 별도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26480" y="1874519"/>
            <a:ext cx="5330952" cy="292608"/>
          </a:xfrm>
          <a:prstGeom prst="rect">
            <a:avLst/>
          </a:prstGeom>
          <a:solidFill>
            <a:srgbClr val="0A2C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217920" y="1874519"/>
            <a:ext cx="312231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용도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23110" y="1874519"/>
            <a:ext cx="350215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수량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6205" y="1874519"/>
            <a:ext cx="1309786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금액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7920" y="2167127"/>
            <a:ext cx="312231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EMR 서버 PC (라이젠7 · HDD 2TB · KVM)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23110" y="2167127"/>
            <a:ext cx="350215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56205" y="2167127"/>
            <a:ext cx="1309786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5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2,076,000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6126480" y="2459735"/>
            <a:ext cx="5330952" cy="0"/>
          </a:xfrm>
          <a:prstGeom prst="line">
            <a:avLst/>
          </a:prstGeom>
          <a:ln w="9525">
            <a:solidFill>
              <a:srgbClr val="E3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6217920" y="2459735"/>
            <a:ext cx="312231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대표원장 PC (라이젠7 · RTX5060) + 27" ×2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523110" y="2459735"/>
            <a:ext cx="350215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56205" y="2459735"/>
            <a:ext cx="1309786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5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2,946,000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126480" y="2752343"/>
            <a:ext cx="5330952" cy="0"/>
          </a:xfrm>
          <a:prstGeom prst="line">
            <a:avLst/>
          </a:prstGeom>
          <a:ln w="9525">
            <a:solidFill>
              <a:srgbClr val="E3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6217920" y="2752343"/>
            <a:ext cx="312231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진료 · 상담 PC (라이젠7·5) + 27" ×2 · 모니터암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523110" y="2752343"/>
            <a:ext cx="350215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056205" y="2752343"/>
            <a:ext cx="1309786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5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3,332,000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6126480" y="3044951"/>
            <a:ext cx="5330952" cy="0"/>
          </a:xfrm>
          <a:prstGeom prst="line">
            <a:avLst/>
          </a:prstGeom>
          <a:ln w="9525">
            <a:solidFill>
              <a:srgbClr val="E3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6217920" y="3044951"/>
            <a:ext cx="312231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데스크 · 물리치료 PC (라이젠5) + 24" 모니터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523110" y="3044951"/>
            <a:ext cx="350215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056205" y="3044951"/>
            <a:ext cx="1309786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5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5,745,000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6126480" y="3337559"/>
            <a:ext cx="5330952" cy="0"/>
          </a:xfrm>
          <a:prstGeom prst="line">
            <a:avLst/>
          </a:prstGeom>
          <a:ln w="9525">
            <a:solidFill>
              <a:srgbClr val="E3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6217920" y="3337559"/>
            <a:ext cx="312231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간호 일체형 PC 24" (i5 · 웹캠)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523110" y="3337559"/>
            <a:ext cx="350215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056205" y="3337559"/>
            <a:ext cx="1309786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5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2,000,000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6126480" y="3630167"/>
            <a:ext cx="5330952" cy="0"/>
          </a:xfrm>
          <a:prstGeom prst="line">
            <a:avLst/>
          </a:prstGeom>
          <a:ln w="9525">
            <a:solidFill>
              <a:srgbClr val="E3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6217920" y="3630167"/>
            <a:ext cx="312231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Windows 11 Home 정품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523110" y="3630167"/>
            <a:ext cx="350215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056205" y="3630167"/>
            <a:ext cx="1309786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5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1,536,000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6126480" y="3922775"/>
            <a:ext cx="5330952" cy="0"/>
          </a:xfrm>
          <a:prstGeom prst="line">
            <a:avLst/>
          </a:prstGeom>
          <a:ln w="9525">
            <a:solidFill>
              <a:srgbClr val="E3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6217920" y="3922775"/>
            <a:ext cx="312231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앰프 (MK50C) · 잡자재 · 운송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523110" y="3922775"/>
            <a:ext cx="350215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1식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056205" y="3922775"/>
            <a:ext cx="1309786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5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370,000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6126480" y="4215383"/>
            <a:ext cx="5330952" cy="0"/>
          </a:xfrm>
          <a:prstGeom prst="line">
            <a:avLst/>
          </a:prstGeom>
          <a:ln w="9525">
            <a:solidFill>
              <a:srgbClr val="E3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6217920" y="4215383"/>
            <a:ext cx="312231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네트워크 장비 (Omada 허브 ×2 · WIFI ×3 · 라우터)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523110" y="4215383"/>
            <a:ext cx="350215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1식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056205" y="4215383"/>
            <a:ext cx="1309786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5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1,180,000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6126480" y="4507992"/>
            <a:ext cx="5330952" cy="0"/>
          </a:xfrm>
          <a:prstGeom prst="line">
            <a:avLst/>
          </a:prstGeom>
          <a:ln w="9525">
            <a:solidFill>
              <a:srgbClr val="E3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6217920" y="4507992"/>
            <a:ext cx="312231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748B1"/>
                </a:solidFill>
                <a:latin typeface="맑은 고딕"/>
                <a:ea typeface="맑은 고딕"/>
                <a:cs typeface="맑은 고딕"/>
              </a:rPr>
              <a:t>프로모션 지원 (구독 · 통신 연계 · PC 구매 지원)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523110" y="4507992"/>
            <a:ext cx="350215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10056205" y="4507992"/>
            <a:ext cx="1309786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50" b="0">
                <a:solidFill>
                  <a:srgbClr val="1748B1"/>
                </a:solidFill>
                <a:latin typeface="맑은 고딕"/>
                <a:ea typeface="맑은 고딕"/>
                <a:cs typeface="맑은 고딕"/>
              </a:rPr>
              <a:t>-1,180,000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6126480" y="4800600"/>
            <a:ext cx="5330952" cy="0"/>
          </a:xfrm>
          <a:prstGeom prst="line">
            <a:avLst/>
          </a:prstGeom>
          <a:ln w="9525">
            <a:solidFill>
              <a:srgbClr val="E3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6217920" y="4800600"/>
            <a:ext cx="312231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748B1"/>
                </a:solidFill>
                <a:latin typeface="맑은 고딕"/>
                <a:ea typeface="맑은 고딕"/>
                <a:cs typeface="맑은 고딕"/>
              </a:rPr>
              <a:t>네트워크 설치 공임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523110" y="4800600"/>
            <a:ext cx="350215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10056205" y="4800600"/>
            <a:ext cx="1309786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50" b="1">
                <a:solidFill>
                  <a:srgbClr val="1748B1"/>
                </a:solidFill>
                <a:latin typeface="맑은 고딕"/>
                <a:ea typeface="맑은 고딕"/>
                <a:cs typeface="맑은 고딕"/>
              </a:rPr>
              <a:t>무상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6126480" y="5093208"/>
            <a:ext cx="5330952" cy="0"/>
          </a:xfrm>
          <a:prstGeom prst="line">
            <a:avLst/>
          </a:prstGeom>
          <a:ln w="9525">
            <a:solidFill>
              <a:srgbClr val="E3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Rectangle 87"/>
          <p:cNvSpPr/>
          <p:nvPr/>
        </p:nvSpPr>
        <p:spPr>
          <a:xfrm>
            <a:off x="6126480" y="5129784"/>
            <a:ext cx="5330952" cy="347472"/>
          </a:xfrm>
          <a:prstGeom prst="rect">
            <a:avLst/>
          </a:prstGeom>
          <a:solidFill>
            <a:srgbClr val="DCE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6236208" y="5129784"/>
            <a:ext cx="3198571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A2C69"/>
                </a:solidFill>
                <a:latin typeface="맑은 고딕"/>
                <a:ea typeface="맑은 고딕"/>
                <a:cs typeface="맑은 고딕"/>
              </a:rPr>
              <a:t>PC · 네트워크 합계 (단수 조정 -5,000)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258860" y="5129784"/>
            <a:ext cx="3088843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50" b="1">
                <a:solidFill>
                  <a:srgbClr val="1748B1"/>
                </a:solidFill>
                <a:latin typeface="맑은 고딕"/>
                <a:ea typeface="맑은 고딕"/>
                <a:cs typeface="맑은 고딕"/>
              </a:rPr>
              <a:t>18,000,000원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그림 79">
            <a:extLst>
              <a:ext uri="{FF2B5EF4-FFF2-40B4-BE49-F238E27FC236}">
                <a16:creationId xmlns:a16="http://schemas.microsoft.com/office/drawing/2014/main" id="{CE7B3E1D-7ED5-4F73-9EAF-4B003DBE41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288" y="1708816"/>
            <a:ext cx="8210672" cy="4110784"/>
          </a:xfrm>
          <a:prstGeom prst="rect">
            <a:avLst/>
          </a:prstGeom>
        </p:spPr>
      </p:pic>
      <p:sp>
        <p:nvSpPr>
          <p:cNvPr id="2" name="카테고리 배경"/>
          <p:cNvSpPr/>
          <p:nvPr/>
        </p:nvSpPr>
        <p:spPr>
          <a:xfrm>
            <a:off x="457199" y="329184"/>
            <a:ext cx="2506133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3"/>
          <p:cNvSpPr>
            <a:spLocks noGrp="1"/>
          </p:cNvSpPr>
          <p:nvPr>
            <p:ph type="body" idx="104" hasCustomPrompt="1"/>
          </p:nvPr>
        </p:nvSpPr>
        <p:spPr>
          <a:xfrm>
            <a:off x="618065" y="329184"/>
            <a:ext cx="234526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chemeClr val="bg1"/>
                </a:solidFill>
              </a:rPr>
              <a:t>통신</a:t>
            </a:r>
            <a:r>
              <a:rPr lang="en-US" sz="1200" b="1" dirty="0">
                <a:solidFill>
                  <a:schemeClr val="bg1"/>
                </a:solidFill>
              </a:rPr>
              <a:t> [</a:t>
            </a:r>
            <a:r>
              <a:rPr lang="ko-KR" altLang="en-US" sz="1200" b="1" dirty="0" err="1">
                <a:solidFill>
                  <a:schemeClr val="bg1"/>
                </a:solidFill>
              </a:rPr>
              <a:t>통신사 · </a:t>
            </a:r>
            <a:r>
              <a:rPr lang="ko-KR" altLang="en-US" dirty="0" err="1"/>
              <a:t>네트워크</a:t>
            </a:r>
            <a:r>
              <a:rPr lang="ko-KR" altLang="en-US" sz="1200" b="1" dirty="0">
                <a:solidFill>
                  <a:schemeClr val="bg1"/>
                </a:solidFill>
              </a:rPr>
              <a:t> · </a:t>
            </a:r>
            <a:r>
              <a:rPr lang="en-US" altLang="ko-KR" dirty="0"/>
              <a:t>PC</a:t>
            </a:r>
            <a:r>
              <a:rPr lang="en-US" sz="1200" b="1" dirty="0">
                <a:solidFill>
                  <a:schemeClr val="bg1"/>
                </a:solidFill>
              </a:rPr>
              <a:t>]</a:t>
            </a:r>
            <a:endParaRPr lang="en-US" sz="1200" dirty="0"/>
          </a:p>
        </p:txBody>
      </p:sp>
      <p:sp>
        <p:nvSpPr>
          <p:cNvPr id="4" name="Text 3"/>
          <p:cNvSpPr>
            <a:spLocks noGrp="1"/>
          </p:cNvSpPr>
          <p:nvPr>
            <p:ph type="title" idx="105" hasCustomPrompt="1"/>
          </p:nvPr>
        </p:nvSpPr>
        <p:spPr>
          <a:xfrm>
            <a:off x="457200" y="7315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ko-KR" sz="2800" b="1" dirty="0" err="1">
                <a:solidFill>
                  <a:schemeClr val="tx1"/>
                </a:solidFill>
              </a:rPr>
              <a:t>설치</a:t>
            </a:r>
            <a:r>
              <a:rPr lang="en-US" altLang="ko-KR" sz="2800" b="1" dirty="0">
                <a:solidFill>
                  <a:schemeClr val="tx1"/>
                </a:solidFill>
              </a:rPr>
              <a:t> </a:t>
            </a:r>
            <a:r>
              <a:rPr lang="en-US" altLang="ko-KR" sz="2800" b="1" dirty="0" err="1">
                <a:solidFill>
                  <a:schemeClr val="tx1"/>
                </a:solidFill>
              </a:rPr>
              <a:t>위치도</a:t>
            </a:r>
            <a:endParaRPr lang="en-US" sz="2800" dirty="0"/>
          </a:p>
        </p:txBody>
      </p:sp>
      <p:sp>
        <p:nvSpPr>
          <p:cNvPr id="5" name="도면 영역"/>
          <p:cNvSpPr/>
          <p:nvPr/>
        </p:nvSpPr>
        <p:spPr>
          <a:xfrm>
            <a:off x="457200" y="1481328"/>
            <a:ext cx="8503920" cy="4617720"/>
          </a:xfrm>
          <a:prstGeom prst="rect">
            <a:avLst/>
          </a:prstGeom>
          <a:solidFill>
            <a:schemeClr val="bg1"/>
          </a:solidFill>
          <a:ln w="9525">
            <a:solidFill>
              <a:srgbClr val="E3E8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도면 안내문"/>
          <p:cNvSpPr txBox="1"/>
          <p:nvPr/>
        </p:nvSpPr>
        <p:spPr>
          <a:xfrm>
            <a:off x="457200" y="3378708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CA8B8"/>
                </a:solidFill>
              </a:rPr>
              <a:t>도면 이미지를 이 영역에 맞춰 넣어주세요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CA8B8"/>
                </a:solidFill>
              </a:rPr>
              <a:t>범례 아이콘을 복사해 설치 위치에 올려주세요</a:t>
            </a:r>
            <a:endParaRPr lang="en-US" sz="1600" dirty="0"/>
          </a:p>
        </p:txBody>
      </p:sp>
      <p:sp>
        <p:nvSpPr>
          <p:cNvPr id="7" name="모서리틀 1-가로"/>
          <p:cNvSpPr/>
          <p:nvPr/>
        </p:nvSpPr>
        <p:spPr>
          <a:xfrm>
            <a:off x="365760" y="1389888"/>
            <a:ext cx="457200" cy="54864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모서리틀 1-세로"/>
          <p:cNvSpPr/>
          <p:nvPr/>
        </p:nvSpPr>
        <p:spPr>
          <a:xfrm>
            <a:off x="365760" y="1389888"/>
            <a:ext cx="54864" cy="45720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모서리틀 2-가로"/>
          <p:cNvSpPr/>
          <p:nvPr/>
        </p:nvSpPr>
        <p:spPr>
          <a:xfrm>
            <a:off x="8595360" y="1389888"/>
            <a:ext cx="457200" cy="54864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모서리틀 2-세로"/>
          <p:cNvSpPr/>
          <p:nvPr/>
        </p:nvSpPr>
        <p:spPr>
          <a:xfrm>
            <a:off x="8997696" y="1389888"/>
            <a:ext cx="54864" cy="45720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모서리틀 3-가로"/>
          <p:cNvSpPr/>
          <p:nvPr/>
        </p:nvSpPr>
        <p:spPr>
          <a:xfrm>
            <a:off x="365760" y="6135624"/>
            <a:ext cx="457200" cy="54864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모서리틀 3-세로"/>
          <p:cNvSpPr/>
          <p:nvPr/>
        </p:nvSpPr>
        <p:spPr>
          <a:xfrm>
            <a:off x="365760" y="5733288"/>
            <a:ext cx="54864" cy="45720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모서리틀 4-가로"/>
          <p:cNvSpPr/>
          <p:nvPr/>
        </p:nvSpPr>
        <p:spPr>
          <a:xfrm>
            <a:off x="8595360" y="6135624"/>
            <a:ext cx="457200" cy="54864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모서리틀 4-세로"/>
          <p:cNvSpPr/>
          <p:nvPr/>
        </p:nvSpPr>
        <p:spPr>
          <a:xfrm>
            <a:off x="8997696" y="5733288"/>
            <a:ext cx="54864" cy="45720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범례 패널"/>
          <p:cNvSpPr/>
          <p:nvPr/>
        </p:nvSpPr>
        <p:spPr>
          <a:xfrm>
            <a:off x="9235440" y="1481328"/>
            <a:ext cx="2496312" cy="461772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3E8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범례 머리"/>
          <p:cNvSpPr/>
          <p:nvPr/>
        </p:nvSpPr>
        <p:spPr>
          <a:xfrm>
            <a:off x="9235440" y="1481328"/>
            <a:ext cx="2496312" cy="512064"/>
          </a:xfrm>
          <a:prstGeom prst="roundRect">
            <a:avLst>
              <a:gd name="adj" fmla="val 250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범례 머리 하단"/>
          <p:cNvSpPr/>
          <p:nvPr/>
        </p:nvSpPr>
        <p:spPr>
          <a:xfrm>
            <a:off x="9235440" y="1755648"/>
            <a:ext cx="2496312" cy="237744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범례 제목"/>
          <p:cNvSpPr txBox="1"/>
          <p:nvPr/>
        </p:nvSpPr>
        <p:spPr>
          <a:xfrm>
            <a:off x="9464040" y="1481328"/>
            <a:ext cx="20391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범례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464040" y="1481328"/>
            <a:ext cx="20391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8D6F0"/>
                </a:solidFill>
              </a:rPr>
              <a:t>11개 품목</a:t>
            </a:r>
            <a:endParaRPr lang="en-US" sz="1100" dirty="0"/>
          </a:p>
        </p:txBody>
      </p:sp>
      <p:pic>
        <p:nvPicPr>
          <p:cNvPr id="20" name="아이콘 전화" descr="전화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2055712"/>
            <a:ext cx="241950" cy="241950"/>
          </a:xfrm>
          <a:prstGeom prst="rect">
            <a:avLst/>
          </a:prstGeom>
        </p:spPr>
      </p:pic>
      <p:sp>
        <p:nvSpPr>
          <p:cNvPr id="21" name="라벨 전화"/>
          <p:cNvSpPr txBox="1"/>
          <p:nvPr/>
        </p:nvSpPr>
        <p:spPr>
          <a:xfrm>
            <a:off x="9870582" y="1993392"/>
            <a:ext cx="1724009" cy="366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전화</a:t>
            </a:r>
            <a:endParaRPr lang="en-US" sz="1400" dirty="0"/>
          </a:p>
        </p:txBody>
      </p:sp>
      <p:sp>
        <p:nvSpPr>
          <p:cNvPr id="22" name="구분선 1"/>
          <p:cNvSpPr/>
          <p:nvPr/>
        </p:nvSpPr>
        <p:spPr>
          <a:xfrm>
            <a:off x="9418319" y="2359983"/>
            <a:ext cx="2130552" cy="0"/>
          </a:xfrm>
          <a:prstGeom prst="line">
            <a:avLst/>
          </a:prstGeom>
          <a:noFill/>
          <a:ln w="9525">
            <a:solidFill>
              <a:srgbClr val="E3E8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3" name="아이콘 FAX" descr="FAX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4040" y="2422303"/>
            <a:ext cx="241950" cy="241950"/>
          </a:xfrm>
          <a:prstGeom prst="rect">
            <a:avLst/>
          </a:prstGeom>
        </p:spPr>
      </p:pic>
      <p:sp>
        <p:nvSpPr>
          <p:cNvPr id="24" name="라벨 FAX"/>
          <p:cNvSpPr txBox="1"/>
          <p:nvPr/>
        </p:nvSpPr>
        <p:spPr>
          <a:xfrm>
            <a:off x="9870582" y="2359983"/>
            <a:ext cx="1724009" cy="366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FAX</a:t>
            </a:r>
            <a:endParaRPr lang="en-US" sz="1400" dirty="0"/>
          </a:p>
        </p:txBody>
      </p:sp>
      <p:sp>
        <p:nvSpPr>
          <p:cNvPr id="25" name="구분선 2"/>
          <p:cNvSpPr/>
          <p:nvPr/>
        </p:nvSpPr>
        <p:spPr>
          <a:xfrm>
            <a:off x="9418319" y="2726574"/>
            <a:ext cx="2130552" cy="0"/>
          </a:xfrm>
          <a:prstGeom prst="line">
            <a:avLst/>
          </a:prstGeom>
          <a:noFill/>
          <a:ln w="9525">
            <a:solidFill>
              <a:srgbClr val="E3E8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6" name="아이콘 업무용 휴대폰" descr="업무용 휴대폰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4040" y="2788895"/>
            <a:ext cx="241950" cy="241950"/>
          </a:xfrm>
          <a:prstGeom prst="rect">
            <a:avLst/>
          </a:prstGeom>
        </p:spPr>
      </p:pic>
      <p:sp>
        <p:nvSpPr>
          <p:cNvPr id="27" name="라벨 업무용 휴대폰"/>
          <p:cNvSpPr txBox="1"/>
          <p:nvPr/>
        </p:nvSpPr>
        <p:spPr>
          <a:xfrm>
            <a:off x="9870582" y="2726574"/>
            <a:ext cx="1724009" cy="366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업무용 휴대폰</a:t>
            </a:r>
            <a:endParaRPr lang="en-US" sz="1400" dirty="0"/>
          </a:p>
          <a:p>
            <a:pPr marL="0" indent="0">
              <a:buNone/>
            </a:pPr>
            <a:r>
              <a:rPr lang="en-US" sz="900" dirty="0">
                <a:solidFill>
                  <a:schemeClr val="accent3"/>
                </a:solidFill>
              </a:rPr>
              <a:t>개원 전후 신규·퇴사자 채용 목적</a:t>
            </a:r>
            <a:endParaRPr lang="en-US" sz="1400" dirty="0"/>
          </a:p>
        </p:txBody>
      </p:sp>
      <p:sp>
        <p:nvSpPr>
          <p:cNvPr id="28" name="구분선 3"/>
          <p:cNvSpPr/>
          <p:nvPr/>
        </p:nvSpPr>
        <p:spPr>
          <a:xfrm>
            <a:off x="9418319" y="3093165"/>
            <a:ext cx="2130552" cy="0"/>
          </a:xfrm>
          <a:prstGeom prst="line">
            <a:avLst/>
          </a:prstGeom>
          <a:noFill/>
          <a:ln w="9525">
            <a:solidFill>
              <a:srgbClr val="E3E8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9" name="아이콘 WIFI" descr="WIFI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64040" y="3155486"/>
            <a:ext cx="241950" cy="241950"/>
          </a:xfrm>
          <a:prstGeom prst="rect">
            <a:avLst/>
          </a:prstGeom>
        </p:spPr>
      </p:pic>
      <p:sp>
        <p:nvSpPr>
          <p:cNvPr id="30" name="라벨 WIFI"/>
          <p:cNvSpPr txBox="1"/>
          <p:nvPr/>
        </p:nvSpPr>
        <p:spPr>
          <a:xfrm>
            <a:off x="9870582" y="3093165"/>
            <a:ext cx="1724009" cy="366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WIFI</a:t>
            </a:r>
            <a:endParaRPr lang="en-US" sz="1400" dirty="0"/>
          </a:p>
        </p:txBody>
      </p:sp>
      <p:sp>
        <p:nvSpPr>
          <p:cNvPr id="31" name="구분선 4"/>
          <p:cNvSpPr/>
          <p:nvPr/>
        </p:nvSpPr>
        <p:spPr>
          <a:xfrm>
            <a:off x="9418319" y="3459757"/>
            <a:ext cx="2130552" cy="0"/>
          </a:xfrm>
          <a:prstGeom prst="line">
            <a:avLst/>
          </a:prstGeom>
          <a:noFill/>
          <a:ln w="9525">
            <a:solidFill>
              <a:srgbClr val="E3E8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2" name="아이콘 LAN" descr="LA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64040" y="3522077"/>
            <a:ext cx="241950" cy="241950"/>
          </a:xfrm>
          <a:prstGeom prst="rect">
            <a:avLst/>
          </a:prstGeom>
        </p:spPr>
      </p:pic>
      <p:sp>
        <p:nvSpPr>
          <p:cNvPr id="33" name="라벨 LAN"/>
          <p:cNvSpPr txBox="1"/>
          <p:nvPr/>
        </p:nvSpPr>
        <p:spPr>
          <a:xfrm>
            <a:off x="9870582" y="3459757"/>
            <a:ext cx="1724009" cy="366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LAN</a:t>
            </a:r>
            <a:endParaRPr lang="en-US" sz="1400" dirty="0"/>
          </a:p>
        </p:txBody>
      </p:sp>
      <p:sp>
        <p:nvSpPr>
          <p:cNvPr id="34" name="구분선 5"/>
          <p:cNvSpPr/>
          <p:nvPr/>
        </p:nvSpPr>
        <p:spPr>
          <a:xfrm>
            <a:off x="2366193" y="4376234"/>
            <a:ext cx="2130552" cy="0"/>
          </a:xfrm>
          <a:prstGeom prst="line">
            <a:avLst/>
          </a:prstGeom>
          <a:noFill/>
          <a:ln w="9525">
            <a:solidFill>
              <a:srgbClr val="E3E8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5" name="아이콘 PC" descr="PC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64040" y="3888668"/>
            <a:ext cx="241950" cy="241950"/>
          </a:xfrm>
          <a:prstGeom prst="rect">
            <a:avLst/>
          </a:prstGeom>
        </p:spPr>
      </p:pic>
      <p:sp>
        <p:nvSpPr>
          <p:cNvPr id="36" name="라벨 PC"/>
          <p:cNvSpPr txBox="1"/>
          <p:nvPr/>
        </p:nvSpPr>
        <p:spPr>
          <a:xfrm>
            <a:off x="9870582" y="3826348"/>
            <a:ext cx="1724009" cy="366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PC</a:t>
            </a:r>
            <a:endParaRPr lang="en-US" sz="1400" dirty="0"/>
          </a:p>
        </p:txBody>
      </p:sp>
      <p:sp>
        <p:nvSpPr>
          <p:cNvPr id="37" name="구분선 6"/>
          <p:cNvSpPr/>
          <p:nvPr/>
        </p:nvSpPr>
        <p:spPr>
          <a:xfrm>
            <a:off x="9418319" y="4192939"/>
            <a:ext cx="2130552" cy="0"/>
          </a:xfrm>
          <a:prstGeom prst="line">
            <a:avLst/>
          </a:prstGeom>
          <a:noFill/>
          <a:ln w="9525">
            <a:solidFill>
              <a:srgbClr val="E3E8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8" name="아이콘 일체형 PC" descr="일체형 PC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64040" y="4255260"/>
            <a:ext cx="241950" cy="241950"/>
          </a:xfrm>
          <a:prstGeom prst="rect">
            <a:avLst/>
          </a:prstGeom>
        </p:spPr>
      </p:pic>
      <p:sp>
        <p:nvSpPr>
          <p:cNvPr id="39" name="라벨 일체형 PC"/>
          <p:cNvSpPr txBox="1"/>
          <p:nvPr/>
        </p:nvSpPr>
        <p:spPr>
          <a:xfrm>
            <a:off x="9870582" y="4192939"/>
            <a:ext cx="1724009" cy="366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일체형 PC</a:t>
            </a:r>
            <a:endParaRPr lang="en-US" sz="1400" dirty="0"/>
          </a:p>
        </p:txBody>
      </p:sp>
      <p:sp>
        <p:nvSpPr>
          <p:cNvPr id="40" name="구분선 7"/>
          <p:cNvSpPr/>
          <p:nvPr/>
        </p:nvSpPr>
        <p:spPr>
          <a:xfrm>
            <a:off x="9418319" y="4559530"/>
            <a:ext cx="2130552" cy="0"/>
          </a:xfrm>
          <a:prstGeom prst="line">
            <a:avLst/>
          </a:prstGeom>
          <a:noFill/>
          <a:ln w="9525">
            <a:solidFill>
              <a:srgbClr val="E3E8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1" name="아이콘 미니 PC" descr="미니 PC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64040" y="4621851"/>
            <a:ext cx="241950" cy="241950"/>
          </a:xfrm>
          <a:prstGeom prst="rect">
            <a:avLst/>
          </a:prstGeom>
        </p:spPr>
      </p:pic>
      <p:sp>
        <p:nvSpPr>
          <p:cNvPr id="42" name="라벨 미니 PC"/>
          <p:cNvSpPr txBox="1"/>
          <p:nvPr/>
        </p:nvSpPr>
        <p:spPr>
          <a:xfrm>
            <a:off x="9870582" y="4559530"/>
            <a:ext cx="1724009" cy="366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미니 PC</a:t>
            </a:r>
            <a:endParaRPr lang="en-US" sz="1400" dirty="0"/>
          </a:p>
        </p:txBody>
      </p:sp>
      <p:sp>
        <p:nvSpPr>
          <p:cNvPr id="43" name="구분선 8"/>
          <p:cNvSpPr/>
          <p:nvPr/>
        </p:nvSpPr>
        <p:spPr>
          <a:xfrm>
            <a:off x="9418319" y="4926122"/>
            <a:ext cx="2130552" cy="0"/>
          </a:xfrm>
          <a:prstGeom prst="line">
            <a:avLst/>
          </a:prstGeom>
          <a:noFill/>
          <a:ln w="9525">
            <a:solidFill>
              <a:srgbClr val="E3E8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4" name="아이콘 프린트" descr="프린트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64040" y="4988442"/>
            <a:ext cx="241950" cy="241950"/>
          </a:xfrm>
          <a:prstGeom prst="rect">
            <a:avLst/>
          </a:prstGeom>
        </p:spPr>
      </p:pic>
      <p:sp>
        <p:nvSpPr>
          <p:cNvPr id="45" name="라벨 프린트"/>
          <p:cNvSpPr txBox="1"/>
          <p:nvPr/>
        </p:nvSpPr>
        <p:spPr>
          <a:xfrm>
            <a:off x="9870582" y="4926122"/>
            <a:ext cx="1724009" cy="366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프린트</a:t>
            </a:r>
            <a:endParaRPr lang="en-US" sz="1400" dirty="0"/>
          </a:p>
        </p:txBody>
      </p:sp>
      <p:sp>
        <p:nvSpPr>
          <p:cNvPr id="46" name="구분선 9"/>
          <p:cNvSpPr/>
          <p:nvPr/>
        </p:nvSpPr>
        <p:spPr>
          <a:xfrm>
            <a:off x="9418319" y="5292713"/>
            <a:ext cx="2130552" cy="0"/>
          </a:xfrm>
          <a:prstGeom prst="line">
            <a:avLst/>
          </a:prstGeom>
          <a:noFill/>
          <a:ln w="9525">
            <a:solidFill>
              <a:srgbClr val="E3E8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7" name="아이콘 복합기" descr="복합기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64040" y="5355033"/>
            <a:ext cx="241950" cy="241950"/>
          </a:xfrm>
          <a:prstGeom prst="rect">
            <a:avLst/>
          </a:prstGeom>
        </p:spPr>
      </p:pic>
      <p:sp>
        <p:nvSpPr>
          <p:cNvPr id="48" name="라벨 복합기"/>
          <p:cNvSpPr txBox="1"/>
          <p:nvPr/>
        </p:nvSpPr>
        <p:spPr>
          <a:xfrm>
            <a:off x="9870582" y="5292713"/>
            <a:ext cx="1724009" cy="366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복합기</a:t>
            </a:r>
            <a:endParaRPr lang="en-US" sz="1400" dirty="0"/>
          </a:p>
        </p:txBody>
      </p:sp>
      <p:sp>
        <p:nvSpPr>
          <p:cNvPr id="77" name="라벨 앰프"/>
          <p:cNvSpPr txBox="1"/>
          <p:nvPr/>
        </p:nvSpPr>
        <p:spPr>
          <a:xfrm>
            <a:off x="9870582" y="5659304"/>
            <a:ext cx="1724009" cy="366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앰프</a:t>
            </a:r>
            <a:endParaRPr lang="en-US" sz="1400" dirty="0"/>
          </a:p>
          <a:p>
            <a:pPr marL="0" indent="0">
              <a:buNone/>
            </a:pPr>
            <a:r>
              <a:rPr lang="en-US" sz="900" dirty="0">
                <a:solidFill>
                  <a:schemeClr val="accent3"/>
                </a:solidFill>
              </a:rPr>
              <a:t>PC와 천장 스피커 연결 변환장비</a:t>
            </a:r>
            <a:endParaRPr lang="en-US" sz="1400" dirty="0"/>
          </a:p>
        </p:txBody>
      </p:sp>
      <p:sp>
        <p:nvSpPr>
          <p:cNvPr id="78" name="구분선 10"/>
          <p:cNvSpPr/>
          <p:nvPr/>
        </p:nvSpPr>
        <p:spPr>
          <a:xfrm>
            <a:off x="9418319" y="5659304"/>
            <a:ext cx="2130552" cy="0"/>
          </a:xfrm>
          <a:prstGeom prst="line">
            <a:avLst/>
          </a:prstGeom>
          <a:noFill/>
          <a:ln w="9525">
            <a:solidFill>
              <a:srgbClr val="E3E8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76" name="아이콘 앰프" descr="앰프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464040" y="5721625"/>
            <a:ext cx="241950" cy="241950"/>
          </a:xfrm>
          <a:prstGeom prst="rect">
            <a:avLst/>
          </a:prstGeom>
        </p:spPr>
      </p:pic>
      <p:sp>
        <p:nvSpPr>
          <p:cNvPr id="79" name="납품현장"/>
          <p:cNvSpPr txBox="1"/>
          <p:nvPr/>
        </p:nvSpPr>
        <p:spPr>
          <a:xfrm>
            <a:off x="5330952" y="6506512"/>
            <a:ext cx="640080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ko-KR" altLang="en-US" sz="1300" b="1" dirty="0">
                <a:solidFill>
                  <a:srgbClr val="FFFFFF"/>
                </a:solidFill>
              </a:rPr>
              <a:t>프로젝트 </a:t>
            </a:r>
            <a:r>
              <a:rPr lang="en-US" altLang="ko-KR" sz="1300" b="1" dirty="0">
                <a:solidFill>
                  <a:srgbClr val="FFFFFF"/>
                </a:solidFill>
              </a:rPr>
              <a:t>: </a:t>
            </a:r>
            <a:r>
              <a:rPr lang="ko-KR" altLang="en-US" sz="1300" b="1" dirty="0" err="1">
                <a:solidFill>
                  <a:srgbClr val="FFFFFF"/>
                </a:solidFill>
              </a:rPr>
              <a:t>다나음</a:t>
            </a:r>
            <a:r>
              <a:rPr lang="ko-KR" altLang="en-US" sz="1300" b="1" dirty="0">
                <a:solidFill>
                  <a:srgbClr val="FFFFFF"/>
                </a:solidFill>
              </a:rPr>
              <a:t> 정형외과   |   무아디자인 협력업체</a:t>
            </a:r>
          </a:p>
        </p:txBody>
      </p:sp>
      <p:pic>
        <p:nvPicPr>
          <p:cNvPr id="82" name="그림 81">
            <a:extLst>
              <a:ext uri="{FF2B5EF4-FFF2-40B4-BE49-F238E27FC236}">
                <a16:creationId xmlns:a16="http://schemas.microsoft.com/office/drawing/2014/main" id="{7CC7DA35-0867-4B81-ACF5-34975E68CF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008" y="1645920"/>
            <a:ext cx="8210672" cy="4110784"/>
          </a:xfrm>
          <a:prstGeom prst="rect">
            <a:avLst/>
          </a:prstGeom>
        </p:spPr>
      </p:pic>
      <p:pic>
        <p:nvPicPr>
          <p:cNvPr id="83" name="아이콘 PC" descr="PC">
            <a:extLst>
              <a:ext uri="{FF2B5EF4-FFF2-40B4-BE49-F238E27FC236}">
                <a16:creationId xmlns:a16="http://schemas.microsoft.com/office/drawing/2014/main" id="{0DFB8D08-BFBA-43EF-8478-9E038B42737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01450" y="3669213"/>
            <a:ext cx="241950" cy="241950"/>
          </a:xfrm>
          <a:prstGeom prst="rect">
            <a:avLst/>
          </a:prstGeom>
        </p:spPr>
      </p:pic>
      <p:pic>
        <p:nvPicPr>
          <p:cNvPr id="86" name="아이콘 PC" descr="PC">
            <a:extLst>
              <a:ext uri="{FF2B5EF4-FFF2-40B4-BE49-F238E27FC236}">
                <a16:creationId xmlns:a16="http://schemas.microsoft.com/office/drawing/2014/main" id="{4B92D7DC-54B8-465B-9041-B87A3ACEEB0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75770" y="3669213"/>
            <a:ext cx="241950" cy="241950"/>
          </a:xfrm>
          <a:prstGeom prst="rect">
            <a:avLst/>
          </a:prstGeom>
        </p:spPr>
      </p:pic>
      <p:pic>
        <p:nvPicPr>
          <p:cNvPr id="99" name="아이콘 PC" descr="PC">
            <a:extLst>
              <a:ext uri="{FF2B5EF4-FFF2-40B4-BE49-F238E27FC236}">
                <a16:creationId xmlns:a16="http://schemas.microsoft.com/office/drawing/2014/main" id="{2EC69DC9-81D1-4B92-976D-62BF4DDED95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33905" y="3669213"/>
            <a:ext cx="241950" cy="241950"/>
          </a:xfrm>
          <a:prstGeom prst="rect">
            <a:avLst/>
          </a:prstGeom>
        </p:spPr>
      </p:pic>
      <p:pic>
        <p:nvPicPr>
          <p:cNvPr id="101" name="아이콘 프린트" descr="프린트">
            <a:extLst>
              <a:ext uri="{FF2B5EF4-FFF2-40B4-BE49-F238E27FC236}">
                <a16:creationId xmlns:a16="http://schemas.microsoft.com/office/drawing/2014/main" id="{A8072C66-FAF9-4A9A-BF2A-C0108EAC57E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42459" y="3669213"/>
            <a:ext cx="241950" cy="241950"/>
          </a:xfrm>
          <a:prstGeom prst="rect">
            <a:avLst/>
          </a:prstGeom>
        </p:spPr>
      </p:pic>
      <p:pic>
        <p:nvPicPr>
          <p:cNvPr id="106" name="아이콘 복합기" descr="복합기">
            <a:extLst>
              <a:ext uri="{FF2B5EF4-FFF2-40B4-BE49-F238E27FC236}">
                <a16:creationId xmlns:a16="http://schemas.microsoft.com/office/drawing/2014/main" id="{00F90162-9EB9-48E5-AEAD-4E0D3C88F2F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99026" y="3661233"/>
            <a:ext cx="241950" cy="241950"/>
          </a:xfrm>
          <a:prstGeom prst="rect">
            <a:avLst/>
          </a:prstGeom>
        </p:spPr>
      </p:pic>
      <p:pic>
        <p:nvPicPr>
          <p:cNvPr id="108" name="아이콘 전화" descr="전화">
            <a:extLst>
              <a:ext uri="{FF2B5EF4-FFF2-40B4-BE49-F238E27FC236}">
                <a16:creationId xmlns:a16="http://schemas.microsoft.com/office/drawing/2014/main" id="{55581E2A-8A3C-4751-9563-33425CBFA4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4409" y="3429000"/>
            <a:ext cx="241950" cy="241950"/>
          </a:xfrm>
          <a:prstGeom prst="rect">
            <a:avLst/>
          </a:prstGeom>
        </p:spPr>
      </p:pic>
      <p:pic>
        <p:nvPicPr>
          <p:cNvPr id="110" name="아이콘 전화" descr="전화">
            <a:extLst>
              <a:ext uri="{FF2B5EF4-FFF2-40B4-BE49-F238E27FC236}">
                <a16:creationId xmlns:a16="http://schemas.microsoft.com/office/drawing/2014/main" id="{D825C428-C17E-43D5-94CB-E0E9AFC7C1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3408975"/>
            <a:ext cx="241950" cy="241950"/>
          </a:xfrm>
          <a:prstGeom prst="rect">
            <a:avLst/>
          </a:prstGeom>
        </p:spPr>
      </p:pic>
      <p:pic>
        <p:nvPicPr>
          <p:cNvPr id="111" name="아이콘 FAX" descr="FAX">
            <a:extLst>
              <a:ext uri="{FF2B5EF4-FFF2-40B4-BE49-F238E27FC236}">
                <a16:creationId xmlns:a16="http://schemas.microsoft.com/office/drawing/2014/main" id="{1F174BC6-561D-43D2-A477-03A6AD1512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8729" y="3406394"/>
            <a:ext cx="241950" cy="241950"/>
          </a:xfrm>
          <a:prstGeom prst="rect">
            <a:avLst/>
          </a:prstGeom>
        </p:spPr>
      </p:pic>
      <p:pic>
        <p:nvPicPr>
          <p:cNvPr id="114" name="아이콘 업무용 휴대폰" descr="업무용 휴대폰">
            <a:extLst>
              <a:ext uri="{FF2B5EF4-FFF2-40B4-BE49-F238E27FC236}">
                <a16:creationId xmlns:a16="http://schemas.microsoft.com/office/drawing/2014/main" id="{0FEDBE65-D1A3-478D-A6E1-7001F6C63B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9026" y="3406394"/>
            <a:ext cx="241950" cy="241950"/>
          </a:xfrm>
          <a:prstGeom prst="rect">
            <a:avLst/>
          </a:prstGeom>
        </p:spPr>
      </p:pic>
      <p:pic>
        <p:nvPicPr>
          <p:cNvPr id="116" name="아이콘 WIFI" descr="WIFI">
            <a:extLst>
              <a:ext uri="{FF2B5EF4-FFF2-40B4-BE49-F238E27FC236}">
                <a16:creationId xmlns:a16="http://schemas.microsoft.com/office/drawing/2014/main" id="{7D34065E-C087-4C63-8F8A-BA4DAB1F4A1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09418" y="4244817"/>
            <a:ext cx="241950" cy="241950"/>
          </a:xfrm>
          <a:prstGeom prst="rect">
            <a:avLst/>
          </a:prstGeom>
        </p:spPr>
      </p:pic>
      <p:pic>
        <p:nvPicPr>
          <p:cNvPr id="117" name="아이콘 WIFI" descr="WIFI">
            <a:extLst>
              <a:ext uri="{FF2B5EF4-FFF2-40B4-BE49-F238E27FC236}">
                <a16:creationId xmlns:a16="http://schemas.microsoft.com/office/drawing/2014/main" id="{9629AB78-C3ED-45E7-9378-9EE4C2503E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43727" y="3271027"/>
            <a:ext cx="241950" cy="241950"/>
          </a:xfrm>
          <a:prstGeom prst="rect">
            <a:avLst/>
          </a:prstGeom>
        </p:spPr>
      </p:pic>
      <p:pic>
        <p:nvPicPr>
          <p:cNvPr id="121" name="아이콘 WIFI" descr="WIFI">
            <a:extLst>
              <a:ext uri="{FF2B5EF4-FFF2-40B4-BE49-F238E27FC236}">
                <a16:creationId xmlns:a16="http://schemas.microsoft.com/office/drawing/2014/main" id="{CE447234-5526-4CAB-B03E-C82DEE958AC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7649" y="2967228"/>
            <a:ext cx="241950" cy="241950"/>
          </a:xfrm>
          <a:prstGeom prst="rect">
            <a:avLst/>
          </a:prstGeom>
        </p:spPr>
      </p:pic>
      <p:pic>
        <p:nvPicPr>
          <p:cNvPr id="122" name="아이콘 앰프" descr="앰프">
            <a:extLst>
              <a:ext uri="{FF2B5EF4-FFF2-40B4-BE49-F238E27FC236}">
                <a16:creationId xmlns:a16="http://schemas.microsoft.com/office/drawing/2014/main" id="{A0AA1BB7-6242-4815-913D-72F14DFC7EA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17754" y="3408975"/>
            <a:ext cx="241950" cy="241950"/>
          </a:xfrm>
          <a:prstGeom prst="rect">
            <a:avLst/>
          </a:prstGeom>
        </p:spPr>
      </p:pic>
      <p:pic>
        <p:nvPicPr>
          <p:cNvPr id="123" name="아이콘 PC" descr="PC">
            <a:extLst>
              <a:ext uri="{FF2B5EF4-FFF2-40B4-BE49-F238E27FC236}">
                <a16:creationId xmlns:a16="http://schemas.microsoft.com/office/drawing/2014/main" id="{95C73ACC-B2BE-4691-825A-8B0E76B2688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18995" y="4244817"/>
            <a:ext cx="241950" cy="241950"/>
          </a:xfrm>
          <a:prstGeom prst="rect">
            <a:avLst/>
          </a:prstGeom>
        </p:spPr>
      </p:pic>
      <p:pic>
        <p:nvPicPr>
          <p:cNvPr id="124" name="아이콘 PC" descr="PC">
            <a:extLst>
              <a:ext uri="{FF2B5EF4-FFF2-40B4-BE49-F238E27FC236}">
                <a16:creationId xmlns:a16="http://schemas.microsoft.com/office/drawing/2014/main" id="{BCF6A63A-E28E-495A-A9C5-2B406143CF3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25752" y="4498580"/>
            <a:ext cx="241950" cy="241950"/>
          </a:xfrm>
          <a:prstGeom prst="rect">
            <a:avLst/>
          </a:prstGeom>
        </p:spPr>
      </p:pic>
      <p:pic>
        <p:nvPicPr>
          <p:cNvPr id="125" name="아이콘 전화" descr="전화">
            <a:extLst>
              <a:ext uri="{FF2B5EF4-FFF2-40B4-BE49-F238E27FC236}">
                <a16:creationId xmlns:a16="http://schemas.microsoft.com/office/drawing/2014/main" id="{28452101-D6E9-4DF2-BBAC-56288236B4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3802" y="4501492"/>
            <a:ext cx="241950" cy="241950"/>
          </a:xfrm>
          <a:prstGeom prst="rect">
            <a:avLst/>
          </a:prstGeom>
        </p:spPr>
      </p:pic>
      <p:sp>
        <p:nvSpPr>
          <p:cNvPr id="126" name="라벨 PC">
            <a:extLst>
              <a:ext uri="{FF2B5EF4-FFF2-40B4-BE49-F238E27FC236}">
                <a16:creationId xmlns:a16="http://schemas.microsoft.com/office/drawing/2014/main" id="{EC1CA491-2441-4ABF-8BA9-E3150DB185CE}"/>
              </a:ext>
            </a:extLst>
          </p:cNvPr>
          <p:cNvSpPr txBox="1"/>
          <p:nvPr/>
        </p:nvSpPr>
        <p:spPr>
          <a:xfrm>
            <a:off x="4948732" y="4685337"/>
            <a:ext cx="1724009" cy="366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>
                <a:solidFill>
                  <a:schemeClr val="tx1"/>
                </a:solidFill>
              </a:rPr>
              <a:t>서버</a:t>
            </a:r>
            <a:r>
              <a:rPr lang="en-US" sz="1400" b="1" dirty="0">
                <a:solidFill>
                  <a:schemeClr val="tx1"/>
                </a:solidFill>
              </a:rPr>
              <a:t>PC</a:t>
            </a:r>
            <a:endParaRPr lang="en-US" sz="1400" dirty="0"/>
          </a:p>
        </p:txBody>
      </p:sp>
      <p:pic>
        <p:nvPicPr>
          <p:cNvPr id="127" name="아이콘 PC" descr="PC">
            <a:extLst>
              <a:ext uri="{FF2B5EF4-FFF2-40B4-BE49-F238E27FC236}">
                <a16:creationId xmlns:a16="http://schemas.microsoft.com/office/drawing/2014/main" id="{1BDC413D-25BB-45FB-A677-1A92966233C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10736" y="4438555"/>
            <a:ext cx="241950" cy="241950"/>
          </a:xfrm>
          <a:prstGeom prst="rect">
            <a:avLst/>
          </a:prstGeom>
        </p:spPr>
      </p:pic>
      <p:pic>
        <p:nvPicPr>
          <p:cNvPr id="128" name="아이콘 PC" descr="PC">
            <a:extLst>
              <a:ext uri="{FF2B5EF4-FFF2-40B4-BE49-F238E27FC236}">
                <a16:creationId xmlns:a16="http://schemas.microsoft.com/office/drawing/2014/main" id="{D9897582-2BF5-4147-96F2-64A4EB9AF04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74385" y="4501492"/>
            <a:ext cx="241950" cy="241950"/>
          </a:xfrm>
          <a:prstGeom prst="rect">
            <a:avLst/>
          </a:prstGeom>
        </p:spPr>
      </p:pic>
      <p:pic>
        <p:nvPicPr>
          <p:cNvPr id="130" name="아이콘 일체형 PC" descr="일체형 PC">
            <a:extLst>
              <a:ext uri="{FF2B5EF4-FFF2-40B4-BE49-F238E27FC236}">
                <a16:creationId xmlns:a16="http://schemas.microsoft.com/office/drawing/2014/main" id="{F8424EDF-1084-4177-9B62-33A1CDA8000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93590" y="3342132"/>
            <a:ext cx="241950" cy="241950"/>
          </a:xfrm>
          <a:prstGeom prst="rect">
            <a:avLst/>
          </a:prstGeom>
        </p:spPr>
      </p:pic>
      <p:pic>
        <p:nvPicPr>
          <p:cNvPr id="131" name="아이콘 일체형 PC" descr="일체형 PC">
            <a:extLst>
              <a:ext uri="{FF2B5EF4-FFF2-40B4-BE49-F238E27FC236}">
                <a16:creationId xmlns:a16="http://schemas.microsoft.com/office/drawing/2014/main" id="{BF00759E-B292-4675-AE9B-1F32A76A7E5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54233" y="3465565"/>
            <a:ext cx="241950" cy="241950"/>
          </a:xfrm>
          <a:prstGeom prst="rect">
            <a:avLst/>
          </a:prstGeom>
        </p:spPr>
      </p:pic>
      <p:pic>
        <p:nvPicPr>
          <p:cNvPr id="132" name="아이콘 PC" descr="PC">
            <a:extLst>
              <a:ext uri="{FF2B5EF4-FFF2-40B4-BE49-F238E27FC236}">
                <a16:creationId xmlns:a16="http://schemas.microsoft.com/office/drawing/2014/main" id="{247A65D3-985F-4148-AEAB-DF324FF462A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08125" y="3512977"/>
            <a:ext cx="241950" cy="241950"/>
          </a:xfrm>
          <a:prstGeom prst="rect">
            <a:avLst/>
          </a:prstGeom>
        </p:spPr>
      </p:pic>
      <p:pic>
        <p:nvPicPr>
          <p:cNvPr id="133" name="아이콘 PC" descr="PC">
            <a:extLst>
              <a:ext uri="{FF2B5EF4-FFF2-40B4-BE49-F238E27FC236}">
                <a16:creationId xmlns:a16="http://schemas.microsoft.com/office/drawing/2014/main" id="{DC141103-63AB-4862-B29B-5D25D7E6E5C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08125" y="3817823"/>
            <a:ext cx="241950" cy="241950"/>
          </a:xfrm>
          <a:prstGeom prst="rect">
            <a:avLst/>
          </a:prstGeom>
        </p:spPr>
      </p:pic>
      <p:pic>
        <p:nvPicPr>
          <p:cNvPr id="134" name="아이콘 전화" descr="전화">
            <a:extLst>
              <a:ext uri="{FF2B5EF4-FFF2-40B4-BE49-F238E27FC236}">
                <a16:creationId xmlns:a16="http://schemas.microsoft.com/office/drawing/2014/main" id="{E71F0A88-7F2B-4ACA-98C2-746EFA958B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8952" y="3510926"/>
            <a:ext cx="241950" cy="241950"/>
          </a:xfrm>
          <a:prstGeom prst="rect">
            <a:avLst/>
          </a:prstGeom>
        </p:spPr>
      </p:pic>
      <p:pic>
        <p:nvPicPr>
          <p:cNvPr id="135" name="아이콘 LAN" descr="LAN">
            <a:extLst>
              <a:ext uri="{FF2B5EF4-FFF2-40B4-BE49-F238E27FC236}">
                <a16:creationId xmlns:a16="http://schemas.microsoft.com/office/drawing/2014/main" id="{CA166344-77A2-423F-8C8A-3F997B11A1C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9026" y="5217522"/>
            <a:ext cx="241950" cy="2419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457200" y="329184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1748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Text Placeholder 1"/>
          <p:cNvSpPr>
            <a:spLocks noGrp="1"/>
          </p:cNvSpPr>
          <p:nvPr>
            <p:ph type="body" idx="104"/>
          </p:nvPr>
        </p:nvSpPr>
        <p:spPr>
          <a:xfrm>
            <a:off x="457200" y="329184"/>
            <a:ext cx="1737360" cy="347472"/>
          </a:xfrm>
        </p:spPr>
        <p:txBody>
          <a:bodyPr lIns="0" tIns="0" rIns="0" bIns="0" anchor="ctr"/>
          <a:lstStyle/>
          <a:p>
            <a:r>
              <a:t>보안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5"/>
          </p:nvPr>
        </p:nvSpPr>
        <p:spPr>
          <a:xfrm>
            <a:off x="457200" y="731520"/>
            <a:ext cx="8686800" cy="548640"/>
          </a:xfrm>
        </p:spPr>
        <p:txBody>
          <a:bodyPr lIns="0" tIns="0" rIns="0" bIns="0" anchor="ctr"/>
          <a:lstStyle/>
          <a:p>
            <a:r>
              <a:rPr dirty="0" err="1"/>
              <a:t>인테리어</a:t>
            </a:r>
            <a:r>
              <a:rPr lang="ko-KR" altLang="en-US" dirty="0"/>
              <a:t>는</a:t>
            </a:r>
            <a:r>
              <a:rPr dirty="0"/>
              <a:t> </a:t>
            </a:r>
            <a:r>
              <a:rPr dirty="0" err="1"/>
              <a:t>흐트러뜨리지</a:t>
            </a:r>
            <a:r>
              <a:rPr dirty="0"/>
              <a:t> </a:t>
            </a:r>
            <a:r>
              <a:rPr dirty="0" err="1"/>
              <a:t>않게</a:t>
            </a:r>
            <a:r>
              <a:rPr dirty="0"/>
              <a:t>, </a:t>
            </a:r>
            <a:r>
              <a:rPr dirty="0" err="1"/>
              <a:t>병원</a:t>
            </a:r>
            <a:r>
              <a:rPr lang="ko-KR" altLang="en-US" dirty="0"/>
              <a:t>은</a:t>
            </a:r>
            <a:r>
              <a:rPr dirty="0"/>
              <a:t> </a:t>
            </a:r>
            <a:r>
              <a:rPr dirty="0" err="1"/>
              <a:t>지켜주는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5330952" y="6474508"/>
            <a:ext cx="640080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3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프로젝트</a:t>
            </a:r>
            <a:r>
              <a:rPr sz="13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: </a:t>
            </a:r>
            <a:r>
              <a:rPr sz="13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다나음 정형외과</a:t>
            </a:r>
            <a:r>
              <a:rPr sz="13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  | </a:t>
            </a:r>
            <a:r>
              <a:rPr lang="ko-KR" altLang="en-US" sz="13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무아디자인</a:t>
            </a:r>
            <a:r>
              <a:rPr lang="ko-KR" altLang="en-US" sz="13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협력업체</a:t>
            </a:r>
            <a:endParaRPr sz="13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344168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공들인 인테리어 위에 배선 자국이 남지 않도록 — 시공 단계마다 현장과 맞춰 움직이고, 준공 직후 비어 있는 병원부터 지킵니다.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780794" y="2011680"/>
            <a:ext cx="8627364" cy="0"/>
          </a:xfrm>
          <a:prstGeom prst="line">
            <a:avLst/>
          </a:prstGeom>
          <a:ln w="25400">
            <a:solidFill>
              <a:srgbClr val="C8D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049274" y="182880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1748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공사 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377440"/>
            <a:ext cx="2647188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Oval 9"/>
          <p:cNvSpPr/>
          <p:nvPr/>
        </p:nvSpPr>
        <p:spPr>
          <a:xfrm>
            <a:off x="731520" y="2606040"/>
            <a:ext cx="384048" cy="384048"/>
          </a:xfrm>
          <a:prstGeom prst="ellipse">
            <a:avLst/>
          </a:prstGeom>
          <a:solidFill>
            <a:srgbClr val="1748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87752"/>
            <a:ext cx="1641348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0A2C69"/>
                </a:solidFill>
                <a:latin typeface="맑은 고딕"/>
                <a:ea typeface="맑은 고딕"/>
                <a:cs typeface="맑은 고딕"/>
              </a:rPr>
              <a:t>CCTV 배선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54680"/>
            <a:ext cx="209854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748B1"/>
                </a:solidFill>
                <a:latin typeface="맑은 고딕"/>
                <a:ea typeface="맑은 고딕"/>
                <a:cs typeface="맑은 고딕"/>
              </a:rPr>
              <a:t>배선 · 단말기 부착 전
무아디자인 소장님과 소통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1520" y="3886200"/>
            <a:ext cx="2098548" cy="0"/>
          </a:xfrm>
          <a:prstGeom prst="line">
            <a:avLst/>
          </a:prstGeom>
          <a:ln w="9525">
            <a:solidFill>
              <a:srgbClr val="E3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" y="4005072"/>
            <a:ext cx="2098548" cy="659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dirty="0" err="1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카메라</a:t>
            </a:r>
            <a:r>
              <a:rPr sz="1100" b="0" dirty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위치와</a:t>
            </a:r>
            <a:r>
              <a:rPr sz="1100" b="0" dirty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배선</a:t>
            </a:r>
            <a:r>
              <a:rPr sz="1100" b="0" dirty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경로를</a:t>
            </a:r>
            <a:r>
              <a:rPr sz="1100" b="0" dirty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인테리어</a:t>
            </a:r>
            <a:r>
              <a:rPr sz="1100" b="0" dirty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마감에</a:t>
            </a:r>
            <a:r>
              <a:rPr sz="1100" b="0" dirty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맞춰</a:t>
            </a:r>
            <a:r>
              <a:rPr sz="1100" b="0" dirty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협의해</a:t>
            </a:r>
            <a:r>
              <a:rPr sz="1100" b="0" dirty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100" dirty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시공합니다</a:t>
            </a:r>
            <a:r>
              <a:rPr sz="1100" b="0" dirty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25062" y="182880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0A2C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준공청소 D-1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32988" y="2377440"/>
            <a:ext cx="2647188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Oval 16"/>
          <p:cNvSpPr/>
          <p:nvPr/>
        </p:nvSpPr>
        <p:spPr>
          <a:xfrm>
            <a:off x="3607308" y="2606040"/>
            <a:ext cx="384048" cy="384048"/>
          </a:xfrm>
          <a:prstGeom prst="ellipse">
            <a:avLst/>
          </a:prstGeom>
          <a:solidFill>
            <a:srgbClr val="1748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0228" y="2587752"/>
            <a:ext cx="1641348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0A2C69"/>
                </a:solidFill>
                <a:latin typeface="맑은 고딕"/>
                <a:ea typeface="맑은 고딕"/>
                <a:cs typeface="맑은 고딕"/>
              </a:rPr>
              <a:t>CCTV 부착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7308" y="3154680"/>
            <a:ext cx="209854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748B1"/>
                </a:solidFill>
                <a:latin typeface="맑은 고딕"/>
                <a:ea typeface="맑은 고딕"/>
                <a:cs typeface="맑은 고딕"/>
              </a:rPr>
              <a:t>마감이 끝난 뒤
깔끔하게 부착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607308" y="3886200"/>
            <a:ext cx="2098548" cy="0"/>
          </a:xfrm>
          <a:prstGeom prst="line">
            <a:avLst/>
          </a:prstGeom>
          <a:ln w="9525">
            <a:solidFill>
              <a:srgbClr val="E3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607308" y="4005072"/>
            <a:ext cx="2098548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dirty="0" err="1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청소</a:t>
            </a:r>
            <a:r>
              <a:rPr sz="1100" b="0" dirty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전날</a:t>
            </a:r>
            <a:r>
              <a:rPr sz="1100" b="0" dirty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카메라를</a:t>
            </a:r>
            <a:r>
              <a:rPr sz="1100" b="0" dirty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부착해</a:t>
            </a:r>
            <a:r>
              <a:rPr sz="1100" b="0" dirty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마감면</a:t>
            </a:r>
            <a:r>
              <a:rPr sz="1100" b="0" dirty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손상</a:t>
            </a:r>
            <a:r>
              <a:rPr sz="1100" b="0" dirty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없이</a:t>
            </a:r>
            <a:r>
              <a:rPr sz="1100" b="0" dirty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설치를</a:t>
            </a:r>
            <a:r>
              <a:rPr sz="1100" b="0" dirty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마칩니다</a:t>
            </a:r>
            <a:r>
              <a:rPr sz="1100" b="0" dirty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00850" y="182880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0A2C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준공청소 D+1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08776" y="2377440"/>
            <a:ext cx="2647188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83096" y="2606040"/>
            <a:ext cx="384048" cy="384048"/>
          </a:xfrm>
          <a:prstGeom prst="ellipse">
            <a:avLst/>
          </a:prstGeom>
          <a:solidFill>
            <a:srgbClr val="1748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86016" y="2587752"/>
            <a:ext cx="1641348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0A2C69"/>
                </a:solidFill>
                <a:latin typeface="맑은 고딕"/>
                <a:ea typeface="맑은 고딕"/>
                <a:cs typeface="맑은 고딕"/>
              </a:rPr>
              <a:t>경비 개시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83096" y="3154680"/>
            <a:ext cx="209854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748B1"/>
                </a:solidFill>
                <a:latin typeface="맑은 고딕"/>
                <a:ea typeface="맑은 고딕"/>
                <a:cs typeface="맑은 고딕"/>
              </a:rPr>
              <a:t>청소 다음날
바로 경비 개시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483096" y="3886200"/>
            <a:ext cx="2098548" cy="0"/>
          </a:xfrm>
          <a:prstGeom prst="line">
            <a:avLst/>
          </a:prstGeom>
          <a:ln w="9525">
            <a:solidFill>
              <a:srgbClr val="E3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483096" y="4005072"/>
            <a:ext cx="2098548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dirty="0" err="1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장비가</a:t>
            </a:r>
            <a:r>
              <a:rPr sz="1100" b="0" dirty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입고되는</a:t>
            </a:r>
            <a:r>
              <a:rPr sz="1100" b="0" dirty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시점부터</a:t>
            </a:r>
            <a:r>
              <a:rPr sz="1100" b="0" dirty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경비를</a:t>
            </a:r>
            <a:r>
              <a:rPr sz="1100" b="0" dirty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걸어</a:t>
            </a:r>
            <a:r>
              <a:rPr sz="1100" b="0" dirty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도난·파손을</a:t>
            </a:r>
            <a:r>
              <a:rPr sz="1100" b="0" dirty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막습니다</a:t>
            </a:r>
            <a:r>
              <a:rPr sz="1100" b="0" dirty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. </a:t>
            </a:r>
            <a:r>
              <a:rPr sz="1100" b="0" dirty="0" err="1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원장님·소장님께</a:t>
            </a:r>
            <a:r>
              <a:rPr sz="1100" b="0" dirty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보안키</a:t>
            </a:r>
            <a:r>
              <a:rPr sz="1100" b="0" dirty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인계</a:t>
            </a:r>
            <a:r>
              <a:rPr sz="1100" b="0" dirty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76638" y="182880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0A2C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직원출근일</a:t>
            </a:r>
            <a:endParaRPr sz="11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9084564" y="2377440"/>
            <a:ext cx="2647188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Oval 30"/>
          <p:cNvSpPr/>
          <p:nvPr/>
        </p:nvSpPr>
        <p:spPr>
          <a:xfrm>
            <a:off x="9358884" y="2606040"/>
            <a:ext cx="384048" cy="384048"/>
          </a:xfrm>
          <a:prstGeom prst="ellipse">
            <a:avLst/>
          </a:prstGeom>
          <a:solidFill>
            <a:srgbClr val="1748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61804" y="2587752"/>
            <a:ext cx="1641348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0A2C69"/>
                </a:solidFill>
                <a:latin typeface="맑은 고딕"/>
                <a:ea typeface="맑은 고딕"/>
                <a:cs typeface="맑은 고딕"/>
              </a:rPr>
              <a:t>셋팅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58884" y="3154680"/>
            <a:ext cx="209854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748B1"/>
                </a:solidFill>
                <a:latin typeface="맑은 고딕"/>
                <a:ea typeface="맑은 고딕"/>
                <a:cs typeface="맑은 고딕"/>
              </a:rPr>
              <a:t>자사 PC 설치 후
근태 앱까지 셋팅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358884" y="3886200"/>
            <a:ext cx="2098548" cy="0"/>
          </a:xfrm>
          <a:prstGeom prst="line">
            <a:avLst/>
          </a:prstGeom>
          <a:ln w="9525">
            <a:solidFill>
              <a:srgbClr val="E3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358884" y="4005072"/>
            <a:ext cx="2098548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핸드쉐이크가 설치한 PC에 CCTV 뷰어와 근태관리 앱을 바로 연결해 별도 절차가 없습니다.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303520"/>
            <a:ext cx="11274552" cy="822960"/>
          </a:xfrm>
          <a:prstGeom prst="roundRect">
            <a:avLst>
              <a:gd name="adj" fmla="val 12000"/>
            </a:avLst>
          </a:prstGeom>
          <a:solidFill>
            <a:srgbClr val="0A2C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5550408"/>
            <a:ext cx="329184" cy="32918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2468880" y="5614972"/>
            <a:ext cx="2538983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깔끔한</a:t>
            </a:r>
            <a:r>
              <a:rPr sz="13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3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배선 </a:t>
            </a:r>
            <a:r>
              <a:rPr sz="13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마감</a:t>
            </a:r>
            <a:endParaRPr sz="13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9304" y="5550408"/>
            <a:ext cx="329184" cy="329184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556504" y="5303520"/>
            <a:ext cx="2538983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입고 장비 도난 · 파손 보호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6928" y="5550408"/>
            <a:ext cx="329184" cy="329184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644128" y="5303520"/>
            <a:ext cx="2538983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개원 첫날부터 영상 · 근태 확인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457200" y="329184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1748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Text Placeholder 1"/>
          <p:cNvSpPr>
            <a:spLocks noGrp="1"/>
          </p:cNvSpPr>
          <p:nvPr>
            <p:ph type="body" idx="104"/>
          </p:nvPr>
        </p:nvSpPr>
        <p:spPr>
          <a:xfrm>
            <a:off x="457200" y="329184"/>
            <a:ext cx="1737360" cy="347472"/>
          </a:xfrm>
        </p:spPr>
        <p:txBody>
          <a:bodyPr lIns="0" tIns="0" rIns="0" bIns="0" anchor="ctr"/>
          <a:lstStyle/>
          <a:p>
            <a:r>
              <a:t>보안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5"/>
          </p:nvPr>
        </p:nvSpPr>
        <p:spPr>
          <a:xfrm>
            <a:off x="457200" y="731520"/>
            <a:ext cx="8686800" cy="548640"/>
          </a:xfrm>
        </p:spPr>
        <p:txBody>
          <a:bodyPr lIns="0" tIns="0" rIns="0" bIns="0" anchor="ctr"/>
          <a:lstStyle/>
          <a:p>
            <a:r>
              <a:t>보안 견적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2" y="6474508"/>
            <a:ext cx="640080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3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프로젝트</a:t>
            </a:r>
            <a:r>
              <a:rPr sz="13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: </a:t>
            </a:r>
            <a:r>
              <a:rPr sz="13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다나음 정형외과</a:t>
            </a:r>
            <a:r>
              <a:rPr sz="13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  | </a:t>
            </a:r>
            <a:r>
              <a:rPr lang="ko-KR" altLang="en-US" sz="13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무아디자인</a:t>
            </a:r>
            <a:r>
              <a:rPr lang="ko-KR" altLang="en-US" sz="13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협력업체</a:t>
            </a:r>
            <a:endParaRPr sz="13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57200" y="1325880"/>
            <a:ext cx="6766560" cy="4800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A2C69"/>
                </a:solidFill>
                <a:latin typeface="맑은 고딕"/>
                <a:ea typeface="맑은 고딕"/>
                <a:cs typeface="맑은 고딕"/>
              </a:rPr>
              <a:t>월 이용료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4630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>
                <a:solidFill>
                  <a:srgbClr val="8A97AB"/>
                </a:solidFill>
                <a:latin typeface="맑은 고딕"/>
                <a:ea typeface="맑은 고딕"/>
                <a:cs typeface="맑은 고딕"/>
              </a:rPr>
              <a:t>약정 36개월 · VAT 별도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74519"/>
            <a:ext cx="6217920" cy="402336"/>
          </a:xfrm>
          <a:prstGeom prst="rect">
            <a:avLst/>
          </a:prstGeom>
          <a:solidFill>
            <a:srgbClr val="0A2C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874519"/>
            <a:ext cx="3920947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품목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26787" y="1874519"/>
            <a:ext cx="43891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수량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48579" y="1874519"/>
            <a:ext cx="13094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월 요금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276856"/>
            <a:ext cx="3920947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무인경비 (CCTV 16대 + 출입제어 1SET 포함)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26787" y="2276856"/>
            <a:ext cx="43891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48579" y="2276856"/>
            <a:ext cx="13094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5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140,000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31520" y="2679191"/>
            <a:ext cx="6217920" cy="0"/>
          </a:xfrm>
          <a:prstGeom prst="line">
            <a:avLst/>
          </a:prstGeom>
          <a:ln w="9525">
            <a:solidFill>
              <a:srgbClr val="E3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22960" y="2679191"/>
            <a:ext cx="3920947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CCTV 추가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26787" y="2679191"/>
            <a:ext cx="43891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48579" y="2679191"/>
            <a:ext cx="13094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5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10,000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31520" y="3081527"/>
            <a:ext cx="6217920" cy="0"/>
          </a:xfrm>
          <a:prstGeom prst="line">
            <a:avLst/>
          </a:prstGeom>
          <a:ln w="9525">
            <a:solidFill>
              <a:srgbClr val="E3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22960" y="3081527"/>
            <a:ext cx="3920947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녹화기 추가 (4CH)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26787" y="3081527"/>
            <a:ext cx="43891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48579" y="3081527"/>
            <a:ext cx="13094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5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10,000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31520" y="3483863"/>
            <a:ext cx="6217920" cy="0"/>
          </a:xfrm>
          <a:prstGeom prst="line">
            <a:avLst/>
          </a:prstGeom>
          <a:ln w="9525">
            <a:solidFill>
              <a:srgbClr val="E3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22960" y="3483863"/>
            <a:ext cx="3920947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녹화 보관기간 15일 → 30일 (하드 추가)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26787" y="3483863"/>
            <a:ext cx="43891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48579" y="3483863"/>
            <a:ext cx="13094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50" b="1">
                <a:solidFill>
                  <a:srgbClr val="1748B1"/>
                </a:solidFill>
                <a:latin typeface="맑은 고딕"/>
                <a:ea typeface="맑은 고딕"/>
                <a:cs typeface="맑은 고딕"/>
              </a:rPr>
              <a:t>서비스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31520" y="3886200"/>
            <a:ext cx="6217920" cy="0"/>
          </a:xfrm>
          <a:prstGeom prst="line">
            <a:avLst/>
          </a:prstGeom>
          <a:ln w="9525">
            <a:solidFill>
              <a:srgbClr val="E3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22960" y="3886200"/>
            <a:ext cx="3920947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근태관리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26787" y="3886200"/>
            <a:ext cx="43891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48579" y="3886200"/>
            <a:ext cx="13094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50" b="1">
                <a:solidFill>
                  <a:srgbClr val="1748B1"/>
                </a:solidFill>
                <a:latin typeface="맑은 고딕"/>
                <a:ea typeface="맑은 고딕"/>
                <a:cs typeface="맑은 고딕"/>
              </a:rPr>
              <a:t>서비스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31520" y="4288536"/>
            <a:ext cx="6217920" cy="0"/>
          </a:xfrm>
          <a:prstGeom prst="line">
            <a:avLst/>
          </a:prstGeom>
          <a:ln w="9525">
            <a:solidFill>
              <a:srgbClr val="E3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22960" y="4288536"/>
            <a:ext cx="3920947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비상벨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26787" y="4288536"/>
            <a:ext cx="43891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48579" y="4288536"/>
            <a:ext cx="13094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50" b="1">
                <a:solidFill>
                  <a:srgbClr val="1748B1"/>
                </a:solidFill>
                <a:latin typeface="맑은 고딕"/>
                <a:ea typeface="맑은 고딕"/>
                <a:cs typeface="맑은 고딕"/>
              </a:rPr>
              <a:t>서비스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31520" y="4690872"/>
            <a:ext cx="6217920" cy="0"/>
          </a:xfrm>
          <a:prstGeom prst="line">
            <a:avLst/>
          </a:prstGeom>
          <a:ln w="9525">
            <a:solidFill>
              <a:srgbClr val="E3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22960" y="4690872"/>
            <a:ext cx="3920947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배상·보상 보험 (대물 3억 · 대인 2억 / 보상 5천만원)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26787" y="4690872"/>
            <a:ext cx="43891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포함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48579" y="4690872"/>
            <a:ext cx="13094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50" b="1">
                <a:solidFill>
                  <a:srgbClr val="1748B1"/>
                </a:solidFill>
                <a:latin typeface="맑은 고딕"/>
                <a:ea typeface="맑은 고딕"/>
                <a:cs typeface="맑은 고딕"/>
              </a:rPr>
              <a:t>포함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31520" y="5093208"/>
            <a:ext cx="6217920" cy="0"/>
          </a:xfrm>
          <a:prstGeom prst="line">
            <a:avLst/>
          </a:prstGeom>
          <a:ln w="9525">
            <a:solidFill>
              <a:srgbClr val="E3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731520" y="5129784"/>
            <a:ext cx="6217920" cy="457200"/>
          </a:xfrm>
          <a:prstGeom prst="rect">
            <a:avLst/>
          </a:prstGeom>
          <a:solidFill>
            <a:srgbClr val="DCE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41248" y="5129784"/>
            <a:ext cx="373075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0A2C69"/>
                </a:solidFill>
                <a:latin typeface="맑은 고딕"/>
                <a:ea typeface="맑은 고딕"/>
                <a:cs typeface="맑은 고딕"/>
              </a:rPr>
              <a:t>보안 월 합계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18688" y="5129784"/>
            <a:ext cx="362102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350" b="1">
                <a:solidFill>
                  <a:srgbClr val="1748B1"/>
                </a:solidFill>
                <a:latin typeface="맑은 고딕"/>
                <a:ea typeface="맑은 고딕"/>
                <a:cs typeface="맑은 고딕"/>
              </a:rPr>
              <a:t>160,000원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498079" y="1325880"/>
            <a:ext cx="4233672" cy="4800600"/>
          </a:xfrm>
          <a:prstGeom prst="roundRect">
            <a:avLst>
              <a:gd name="adj" fmla="val 6000"/>
            </a:avLst>
          </a:prstGeom>
          <a:solidFill>
            <a:srgbClr val="0A2C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772400" y="1463040"/>
            <a:ext cx="368503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가입 혜택</a:t>
            </a:r>
          </a:p>
        </p:txBody>
      </p:sp>
      <p:sp>
        <p:nvSpPr>
          <p:cNvPr id="46" name="Oval 45"/>
          <p:cNvSpPr/>
          <p:nvPr/>
        </p:nvSpPr>
        <p:spPr>
          <a:xfrm>
            <a:off x="7772400" y="2011679"/>
            <a:ext cx="365760" cy="365760"/>
          </a:xfrm>
          <a:prstGeom prst="ellipse">
            <a:avLst/>
          </a:prstGeom>
          <a:solidFill>
            <a:srgbClr val="1748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75319" y="1965960"/>
            <a:ext cx="318211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설치비 전액 면제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75319" y="2350008"/>
            <a:ext cx="318211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C8D6F0"/>
                </a:solidFill>
                <a:latin typeface="맑은 고딕"/>
                <a:ea typeface="맑은 고딕"/>
                <a:cs typeface="맑은 고딕"/>
              </a:rPr>
              <a:t>초기 설치비용 부담 없이 시작</a:t>
            </a:r>
          </a:p>
        </p:txBody>
      </p:sp>
      <p:sp>
        <p:nvSpPr>
          <p:cNvPr id="49" name="Oval 48"/>
          <p:cNvSpPr/>
          <p:nvPr/>
        </p:nvSpPr>
        <p:spPr>
          <a:xfrm>
            <a:off x="7772400" y="3017520"/>
            <a:ext cx="365760" cy="365760"/>
          </a:xfrm>
          <a:prstGeom prst="ellipse">
            <a:avLst/>
          </a:prstGeom>
          <a:solidFill>
            <a:srgbClr val="1748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75319" y="2971800"/>
            <a:ext cx="318211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서비스 3종 무상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75319" y="3355848"/>
            <a:ext cx="318211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C8D6F0"/>
                </a:solidFill>
                <a:latin typeface="맑은 고딕"/>
                <a:ea typeface="맑은 고딕"/>
                <a:cs typeface="맑은 고딕"/>
              </a:rPr>
              <a:t>녹화기간 연장 · 근태관리 · 비상벨</a:t>
            </a:r>
          </a:p>
        </p:txBody>
      </p:sp>
      <p:sp>
        <p:nvSpPr>
          <p:cNvPr id="52" name="Oval 51"/>
          <p:cNvSpPr/>
          <p:nvPr/>
        </p:nvSpPr>
        <p:spPr>
          <a:xfrm>
            <a:off x="7772400" y="4023359"/>
            <a:ext cx="365760" cy="365760"/>
          </a:xfrm>
          <a:prstGeom prst="ellipse">
            <a:avLst/>
          </a:prstGeom>
          <a:solidFill>
            <a:srgbClr val="1748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75319" y="3977639"/>
            <a:ext cx="318211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네트워크 평생 무상 방문 AS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75319" y="4361688"/>
            <a:ext cx="318211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C8D6F0"/>
                </a:solidFill>
                <a:latin typeface="맑은 고딕"/>
                <a:ea typeface="맑은 고딕"/>
                <a:cs typeface="맑은 고딕"/>
              </a:rPr>
              <a:t>무아디자인 협력 현장 특별 혜택</a:t>
            </a:r>
          </a:p>
        </p:txBody>
      </p:sp>
      <p:sp>
        <p:nvSpPr>
          <p:cNvPr id="55" name="Oval 54"/>
          <p:cNvSpPr/>
          <p:nvPr/>
        </p:nvSpPr>
        <p:spPr>
          <a:xfrm>
            <a:off x="7772400" y="5029200"/>
            <a:ext cx="365760" cy="365760"/>
          </a:xfrm>
          <a:prstGeom prst="ellipse">
            <a:avLst/>
          </a:prstGeom>
          <a:solidFill>
            <a:srgbClr val="1748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75319" y="4983480"/>
            <a:ext cx="318211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SK 휴대폰 결합 시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75319" y="5367528"/>
            <a:ext cx="318211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C8D6F0"/>
                </a:solidFill>
                <a:latin typeface="맑은 고딕"/>
                <a:ea typeface="맑은 고딕"/>
                <a:cs typeface="맑은 고딕"/>
              </a:rPr>
              <a:t>총 2달 요금 면제(3회차 100%, 13·25회차 50%) 또는 최대 월 5,000원 할인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도면 영역"/>
          <p:cNvSpPr/>
          <p:nvPr/>
        </p:nvSpPr>
        <p:spPr>
          <a:xfrm>
            <a:off x="457200" y="1481328"/>
            <a:ext cx="8503920" cy="4617720"/>
          </a:xfrm>
          <a:prstGeom prst="rect">
            <a:avLst/>
          </a:prstGeom>
          <a:solidFill>
            <a:schemeClr val="bg1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2" name="카테고리 배경"/>
          <p:cNvSpPr/>
          <p:nvPr/>
        </p:nvSpPr>
        <p:spPr>
          <a:xfrm>
            <a:off x="457200" y="329184"/>
            <a:ext cx="1737360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 3"/>
          <p:cNvSpPr>
            <a:spLocks noGrp="1"/>
          </p:cNvSpPr>
          <p:nvPr>
            <p:ph type="body" idx="104" hasCustomPrompt="1"/>
          </p:nvPr>
        </p:nvSpPr>
        <p:spPr>
          <a:xfrm>
            <a:off x="457200" y="32918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보안</a:t>
            </a:r>
            <a:endParaRPr lang="en-US" sz="1200" dirty="0"/>
          </a:p>
        </p:txBody>
      </p:sp>
      <p:sp>
        <p:nvSpPr>
          <p:cNvPr id="4" name="Text 3"/>
          <p:cNvSpPr>
            <a:spLocks noGrp="1"/>
          </p:cNvSpPr>
          <p:nvPr>
            <p:ph type="title" idx="105" hasCustomPrompt="1"/>
          </p:nvPr>
        </p:nvSpPr>
        <p:spPr>
          <a:xfrm>
            <a:off x="457200" y="7315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 err="1">
                <a:solidFill>
                  <a:schemeClr val="tx1"/>
                </a:solidFill>
              </a:rPr>
              <a:t>설치</a:t>
            </a:r>
            <a:r>
              <a:rPr lang="en-US" sz="2800" b="1" dirty="0">
                <a:solidFill>
                  <a:schemeClr val="tx1"/>
                </a:solidFill>
              </a:rPr>
              <a:t> 위치도</a:t>
            </a:r>
            <a:endParaRPr lang="en-US" sz="2800" dirty="0"/>
          </a:p>
        </p:txBody>
      </p:sp>
      <p:sp>
        <p:nvSpPr>
          <p:cNvPr id="7" name="모서리틀 1-가로"/>
          <p:cNvSpPr/>
          <p:nvPr/>
        </p:nvSpPr>
        <p:spPr>
          <a:xfrm>
            <a:off x="365760" y="1389888"/>
            <a:ext cx="457200" cy="5486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" name="모서리틀 1-세로"/>
          <p:cNvSpPr/>
          <p:nvPr/>
        </p:nvSpPr>
        <p:spPr>
          <a:xfrm>
            <a:off x="365760" y="1389888"/>
            <a:ext cx="54864" cy="4572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모서리틀 2-가로"/>
          <p:cNvSpPr/>
          <p:nvPr/>
        </p:nvSpPr>
        <p:spPr>
          <a:xfrm>
            <a:off x="8595360" y="1389888"/>
            <a:ext cx="457200" cy="5486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" name="모서리틀 2-세로"/>
          <p:cNvSpPr/>
          <p:nvPr/>
        </p:nvSpPr>
        <p:spPr>
          <a:xfrm>
            <a:off x="8997696" y="1389888"/>
            <a:ext cx="54864" cy="4572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1" name="모서리틀 3-가로"/>
          <p:cNvSpPr/>
          <p:nvPr/>
        </p:nvSpPr>
        <p:spPr>
          <a:xfrm>
            <a:off x="365760" y="6135624"/>
            <a:ext cx="457200" cy="5486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2" name="모서리틀 3-세로"/>
          <p:cNvSpPr/>
          <p:nvPr/>
        </p:nvSpPr>
        <p:spPr>
          <a:xfrm>
            <a:off x="365760" y="5733288"/>
            <a:ext cx="54864" cy="4572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3" name="모서리틀 4-가로"/>
          <p:cNvSpPr/>
          <p:nvPr/>
        </p:nvSpPr>
        <p:spPr>
          <a:xfrm>
            <a:off x="8595360" y="6135624"/>
            <a:ext cx="457200" cy="5486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4" name="모서리틀 4-세로"/>
          <p:cNvSpPr/>
          <p:nvPr/>
        </p:nvSpPr>
        <p:spPr>
          <a:xfrm>
            <a:off x="8997696" y="5733288"/>
            <a:ext cx="54864" cy="4572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5" name="범례 패널"/>
          <p:cNvSpPr/>
          <p:nvPr/>
        </p:nvSpPr>
        <p:spPr>
          <a:xfrm>
            <a:off x="9235440" y="1481328"/>
            <a:ext cx="2496312" cy="461772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16" name="범례 머리"/>
          <p:cNvSpPr/>
          <p:nvPr/>
        </p:nvSpPr>
        <p:spPr>
          <a:xfrm>
            <a:off x="9235440" y="1481328"/>
            <a:ext cx="2496312" cy="512064"/>
          </a:xfrm>
          <a:prstGeom prst="roundRect">
            <a:avLst>
              <a:gd name="adj" fmla="val 25000"/>
            </a:avLst>
          </a:prstGeom>
          <a:solidFill>
            <a:schemeClr val="tx2"/>
          </a:solidFill>
          <a:ln/>
        </p:spPr>
      </p:sp>
      <p:sp>
        <p:nvSpPr>
          <p:cNvPr id="17" name="범례 머리 하단"/>
          <p:cNvSpPr/>
          <p:nvPr/>
        </p:nvSpPr>
        <p:spPr>
          <a:xfrm>
            <a:off x="9235440" y="1755648"/>
            <a:ext cx="2496312" cy="237744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8" name="범례 제목"/>
          <p:cNvSpPr txBox="1"/>
          <p:nvPr/>
        </p:nvSpPr>
        <p:spPr>
          <a:xfrm>
            <a:off x="9464040" y="1481328"/>
            <a:ext cx="20391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범례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464040" y="1481328"/>
            <a:ext cx="20391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8D6F0"/>
                </a:solidFill>
              </a:rPr>
              <a:t>6개 품목</a:t>
            </a:r>
            <a:endParaRPr lang="en-US" sz="1100" dirty="0"/>
          </a:p>
        </p:txBody>
      </p:sp>
      <p:pic>
        <p:nvPicPr>
          <p:cNvPr id="20" name="아이콘 출입리더기" descr="출입리더기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0" y="2119122"/>
            <a:ext cx="420624" cy="420624"/>
          </a:xfrm>
          <a:prstGeom prst="rect">
            <a:avLst/>
          </a:prstGeom>
        </p:spPr>
      </p:pic>
      <p:sp>
        <p:nvSpPr>
          <p:cNvPr id="21" name="라벨 출입리더기"/>
          <p:cNvSpPr txBox="1"/>
          <p:nvPr/>
        </p:nvSpPr>
        <p:spPr>
          <a:xfrm>
            <a:off x="10049256" y="1993392"/>
            <a:ext cx="1545336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출입리더기</a:t>
            </a:r>
            <a:endParaRPr lang="en-US" sz="1400" dirty="0"/>
          </a:p>
        </p:txBody>
      </p:sp>
      <p:sp>
        <p:nvSpPr>
          <p:cNvPr id="22" name="구분선 1"/>
          <p:cNvSpPr/>
          <p:nvPr/>
        </p:nvSpPr>
        <p:spPr>
          <a:xfrm>
            <a:off x="9418320" y="2665476"/>
            <a:ext cx="2130552" cy="0"/>
          </a:xfrm>
          <a:prstGeom prst="line">
            <a:avLst/>
          </a:prstGeom>
          <a:noFill/>
          <a:ln w="9525">
            <a:solidFill>
              <a:srgbClr val="E3E8F2"/>
            </a:solidFill>
            <a:prstDash val="solid"/>
          </a:ln>
        </p:spPr>
      </p:sp>
      <p:pic>
        <p:nvPicPr>
          <p:cNvPr id="23" name="아이콘 락" descr="락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2791206"/>
            <a:ext cx="420624" cy="420624"/>
          </a:xfrm>
          <a:prstGeom prst="rect">
            <a:avLst/>
          </a:prstGeom>
        </p:spPr>
      </p:pic>
      <p:sp>
        <p:nvSpPr>
          <p:cNvPr id="24" name="라벨 락"/>
          <p:cNvSpPr txBox="1"/>
          <p:nvPr/>
        </p:nvSpPr>
        <p:spPr>
          <a:xfrm>
            <a:off x="10049256" y="2665476"/>
            <a:ext cx="1545336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락</a:t>
            </a:r>
            <a:endParaRPr lang="en-US" sz="1400" dirty="0"/>
          </a:p>
        </p:txBody>
      </p:sp>
      <p:sp>
        <p:nvSpPr>
          <p:cNvPr id="25" name="구분선 2"/>
          <p:cNvSpPr/>
          <p:nvPr/>
        </p:nvSpPr>
        <p:spPr>
          <a:xfrm>
            <a:off x="9418320" y="3337560"/>
            <a:ext cx="2130552" cy="0"/>
          </a:xfrm>
          <a:prstGeom prst="line">
            <a:avLst/>
          </a:prstGeom>
          <a:noFill/>
          <a:ln w="9525">
            <a:solidFill>
              <a:srgbClr val="E3E8F2"/>
            </a:solidFill>
            <a:prstDash val="solid"/>
          </a:ln>
        </p:spPr>
      </p:sp>
      <p:pic>
        <p:nvPicPr>
          <p:cNvPr id="26" name="아이콘 녹화기" descr="녹화기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4040" y="3463290"/>
            <a:ext cx="420624" cy="420624"/>
          </a:xfrm>
          <a:prstGeom prst="rect">
            <a:avLst/>
          </a:prstGeom>
        </p:spPr>
      </p:pic>
      <p:sp>
        <p:nvSpPr>
          <p:cNvPr id="27" name="라벨 녹화기"/>
          <p:cNvSpPr txBox="1"/>
          <p:nvPr/>
        </p:nvSpPr>
        <p:spPr>
          <a:xfrm>
            <a:off x="10049256" y="3337560"/>
            <a:ext cx="1545336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녹화기</a:t>
            </a:r>
            <a:endParaRPr lang="en-US" sz="1400" dirty="0"/>
          </a:p>
        </p:txBody>
      </p:sp>
      <p:sp>
        <p:nvSpPr>
          <p:cNvPr id="28" name="구분선 3"/>
          <p:cNvSpPr/>
          <p:nvPr/>
        </p:nvSpPr>
        <p:spPr>
          <a:xfrm>
            <a:off x="9418320" y="4009644"/>
            <a:ext cx="2130552" cy="0"/>
          </a:xfrm>
          <a:prstGeom prst="line">
            <a:avLst/>
          </a:prstGeom>
          <a:noFill/>
          <a:ln w="9525">
            <a:solidFill>
              <a:srgbClr val="E3E8F2"/>
            </a:solidFill>
            <a:prstDash val="solid"/>
          </a:ln>
        </p:spPr>
      </p:sp>
      <p:pic>
        <p:nvPicPr>
          <p:cNvPr id="29" name="아이콘 CCTV 카메라 방향" descr="CCTV 카메라 방향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4040" y="4135374"/>
            <a:ext cx="420624" cy="420624"/>
          </a:xfrm>
          <a:prstGeom prst="rect">
            <a:avLst/>
          </a:prstGeom>
        </p:spPr>
      </p:pic>
      <p:sp>
        <p:nvSpPr>
          <p:cNvPr id="30" name="라벨 CCTV 카메라 방향"/>
          <p:cNvSpPr txBox="1"/>
          <p:nvPr/>
        </p:nvSpPr>
        <p:spPr>
          <a:xfrm>
            <a:off x="10049256" y="4009644"/>
            <a:ext cx="1545336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CCTV 카메라 방향</a:t>
            </a:r>
            <a:endParaRPr lang="en-US" sz="1400" dirty="0"/>
          </a:p>
        </p:txBody>
      </p:sp>
      <p:sp>
        <p:nvSpPr>
          <p:cNvPr id="31" name="구분선 4"/>
          <p:cNvSpPr/>
          <p:nvPr/>
        </p:nvSpPr>
        <p:spPr>
          <a:xfrm>
            <a:off x="9418320" y="4681728"/>
            <a:ext cx="2130552" cy="0"/>
          </a:xfrm>
          <a:prstGeom prst="line">
            <a:avLst/>
          </a:prstGeom>
          <a:noFill/>
          <a:ln w="9525">
            <a:solidFill>
              <a:srgbClr val="E3E8F2"/>
            </a:solidFill>
            <a:prstDash val="solid"/>
          </a:ln>
        </p:spPr>
      </p:sp>
      <p:pic>
        <p:nvPicPr>
          <p:cNvPr id="32" name="아이콘 주장치" descr="주장치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64040" y="4807458"/>
            <a:ext cx="420624" cy="420624"/>
          </a:xfrm>
          <a:prstGeom prst="rect">
            <a:avLst/>
          </a:prstGeom>
        </p:spPr>
      </p:pic>
      <p:sp>
        <p:nvSpPr>
          <p:cNvPr id="33" name="라벨 주장치"/>
          <p:cNvSpPr txBox="1"/>
          <p:nvPr/>
        </p:nvSpPr>
        <p:spPr>
          <a:xfrm>
            <a:off x="10049256" y="4681728"/>
            <a:ext cx="1545336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주장치</a:t>
            </a:r>
            <a:endParaRPr lang="en-US" sz="1400" dirty="0"/>
          </a:p>
        </p:txBody>
      </p:sp>
      <p:sp>
        <p:nvSpPr>
          <p:cNvPr id="34" name="구분선 5"/>
          <p:cNvSpPr/>
          <p:nvPr/>
        </p:nvSpPr>
        <p:spPr>
          <a:xfrm>
            <a:off x="9418320" y="5353812"/>
            <a:ext cx="2130552" cy="0"/>
          </a:xfrm>
          <a:prstGeom prst="line">
            <a:avLst/>
          </a:prstGeom>
          <a:noFill/>
          <a:ln w="9525">
            <a:solidFill>
              <a:srgbClr val="E3E8F2"/>
            </a:solidFill>
            <a:prstDash val="solid"/>
          </a:ln>
        </p:spPr>
      </p:sp>
      <p:pic>
        <p:nvPicPr>
          <p:cNvPr id="35" name="아이콘 비상벨" descr="비상벨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64040" y="5479542"/>
            <a:ext cx="420624" cy="420624"/>
          </a:xfrm>
          <a:prstGeom prst="rect">
            <a:avLst/>
          </a:prstGeom>
        </p:spPr>
      </p:pic>
      <p:sp>
        <p:nvSpPr>
          <p:cNvPr id="36" name="라벨 비상벨"/>
          <p:cNvSpPr txBox="1"/>
          <p:nvPr/>
        </p:nvSpPr>
        <p:spPr>
          <a:xfrm>
            <a:off x="10049256" y="5353812"/>
            <a:ext cx="1545336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비상벨</a:t>
            </a:r>
            <a:endParaRPr lang="en-US" sz="1400" dirty="0"/>
          </a:p>
        </p:txBody>
      </p:sp>
      <p:sp>
        <p:nvSpPr>
          <p:cNvPr id="64" name="납품현장"/>
          <p:cNvSpPr txBox="1"/>
          <p:nvPr/>
        </p:nvSpPr>
        <p:spPr>
          <a:xfrm>
            <a:off x="5330952" y="6506512"/>
            <a:ext cx="640080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ko-KR" altLang="en-US" sz="1300" b="1" dirty="0">
                <a:solidFill>
                  <a:srgbClr val="FFFFFF"/>
                </a:solidFill>
              </a:rPr>
              <a:t>프로젝트 </a:t>
            </a:r>
            <a:r>
              <a:rPr lang="en-US" altLang="ko-KR" sz="1300" b="1" dirty="0">
                <a:solidFill>
                  <a:srgbClr val="FFFFFF"/>
                </a:solidFill>
              </a:rPr>
              <a:t>: </a:t>
            </a:r>
            <a:r>
              <a:rPr lang="ko-KR" altLang="en-US" sz="1300" b="1" dirty="0" err="1">
                <a:solidFill>
                  <a:srgbClr val="FFFFFF"/>
                </a:solidFill>
              </a:rPr>
              <a:t>다나음</a:t>
            </a:r>
            <a:r>
              <a:rPr lang="ko-KR" altLang="en-US" sz="1300" b="1" dirty="0">
                <a:solidFill>
                  <a:srgbClr val="FFFFFF"/>
                </a:solidFill>
              </a:rPr>
              <a:t> 정형외과   |   무아디자인 협력업체</a:t>
            </a:r>
          </a:p>
        </p:txBody>
      </p:sp>
      <p:sp>
        <p:nvSpPr>
          <p:cNvPr id="50" name="도면 안내문">
            <a:extLst>
              <a:ext uri="{FF2B5EF4-FFF2-40B4-BE49-F238E27FC236}">
                <a16:creationId xmlns:a16="http://schemas.microsoft.com/office/drawing/2014/main" id="{1E1B0F99-5047-42A2-A7EE-1A26FC8A1A5C}"/>
              </a:ext>
            </a:extLst>
          </p:cNvPr>
          <p:cNvSpPr txBox="1"/>
          <p:nvPr/>
        </p:nvSpPr>
        <p:spPr>
          <a:xfrm>
            <a:off x="457200" y="3378708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CA8B8"/>
                </a:solidFill>
              </a:rPr>
              <a:t>도면 이미지를 이 영역에 맞춰 넣어주세요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CA8B8"/>
                </a:solidFill>
              </a:rPr>
              <a:t>범례 아이콘을 복사해 설치 위치에 올려주세요</a:t>
            </a:r>
            <a:endParaRPr lang="en-US" sz="1600" dirty="0"/>
          </a:p>
        </p:txBody>
      </p:sp>
      <p:pic>
        <p:nvPicPr>
          <p:cNvPr id="51" name="그림 50">
            <a:extLst>
              <a:ext uri="{FF2B5EF4-FFF2-40B4-BE49-F238E27FC236}">
                <a16:creationId xmlns:a16="http://schemas.microsoft.com/office/drawing/2014/main" id="{6EA7E37C-6BE6-4693-AFA2-3A743F60BD6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3288" y="1708816"/>
            <a:ext cx="8210672" cy="4110784"/>
          </a:xfrm>
          <a:prstGeom prst="rect">
            <a:avLst/>
          </a:prstGeom>
        </p:spPr>
      </p:pic>
      <p:pic>
        <p:nvPicPr>
          <p:cNvPr id="52" name="아이콘 출입리더기" descr="출입리더기">
            <a:extLst>
              <a:ext uri="{FF2B5EF4-FFF2-40B4-BE49-F238E27FC236}">
                <a16:creationId xmlns:a16="http://schemas.microsoft.com/office/drawing/2014/main" id="{C39F4EEE-A9F2-4ECC-B574-EEC4BB347D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392" y="1666821"/>
            <a:ext cx="265176" cy="265176"/>
          </a:xfrm>
          <a:prstGeom prst="rect">
            <a:avLst/>
          </a:prstGeom>
        </p:spPr>
      </p:pic>
      <p:pic>
        <p:nvPicPr>
          <p:cNvPr id="53" name="아이콘 CCTV 카메라 방향" descr="CCTV 카메라 방향">
            <a:extLst>
              <a:ext uri="{FF2B5EF4-FFF2-40B4-BE49-F238E27FC236}">
                <a16:creationId xmlns:a16="http://schemas.microsoft.com/office/drawing/2014/main" id="{D34910E4-A0D6-4954-85A0-EE03CF6C3F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789642">
            <a:off x="1325880" y="1931997"/>
            <a:ext cx="182879" cy="182879"/>
          </a:xfrm>
          <a:prstGeom prst="rect">
            <a:avLst/>
          </a:prstGeom>
        </p:spPr>
      </p:pic>
      <p:pic>
        <p:nvPicPr>
          <p:cNvPr id="54" name="아이콘 CCTV 카메라 방향" descr="CCTV 카메라 방향">
            <a:extLst>
              <a:ext uri="{FF2B5EF4-FFF2-40B4-BE49-F238E27FC236}">
                <a16:creationId xmlns:a16="http://schemas.microsoft.com/office/drawing/2014/main" id="{BBCFBE21-9756-4E5F-86C0-746AA35402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789642">
            <a:off x="2040367" y="1929312"/>
            <a:ext cx="182879" cy="182879"/>
          </a:xfrm>
          <a:prstGeom prst="rect">
            <a:avLst/>
          </a:prstGeom>
        </p:spPr>
      </p:pic>
      <p:pic>
        <p:nvPicPr>
          <p:cNvPr id="55" name="아이콘 CCTV 카메라 방향" descr="CCTV 카메라 방향">
            <a:extLst>
              <a:ext uri="{FF2B5EF4-FFF2-40B4-BE49-F238E27FC236}">
                <a16:creationId xmlns:a16="http://schemas.microsoft.com/office/drawing/2014/main" id="{FC21860E-4092-40C7-A897-4818E9781A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317461">
            <a:off x="1234441" y="2975353"/>
            <a:ext cx="182879" cy="182879"/>
          </a:xfrm>
          <a:prstGeom prst="rect">
            <a:avLst/>
          </a:prstGeom>
        </p:spPr>
      </p:pic>
      <p:pic>
        <p:nvPicPr>
          <p:cNvPr id="56" name="아이콘 CCTV 카메라 방향" descr="CCTV 카메라 방향">
            <a:extLst>
              <a:ext uri="{FF2B5EF4-FFF2-40B4-BE49-F238E27FC236}">
                <a16:creationId xmlns:a16="http://schemas.microsoft.com/office/drawing/2014/main" id="{6C454702-218D-425F-8C82-179F70778C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054677">
            <a:off x="2589107" y="3279747"/>
            <a:ext cx="182879" cy="182879"/>
          </a:xfrm>
          <a:prstGeom prst="rect">
            <a:avLst/>
          </a:prstGeom>
        </p:spPr>
      </p:pic>
      <p:pic>
        <p:nvPicPr>
          <p:cNvPr id="57" name="아이콘 CCTV 카메라 방향" descr="CCTV 카메라 방향">
            <a:extLst>
              <a:ext uri="{FF2B5EF4-FFF2-40B4-BE49-F238E27FC236}">
                <a16:creationId xmlns:a16="http://schemas.microsoft.com/office/drawing/2014/main" id="{EA992ECC-789F-455B-ADE5-2584D877D5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9024857">
            <a:off x="3749042" y="2975352"/>
            <a:ext cx="182879" cy="182879"/>
          </a:xfrm>
          <a:prstGeom prst="rect">
            <a:avLst/>
          </a:prstGeom>
        </p:spPr>
      </p:pic>
      <p:pic>
        <p:nvPicPr>
          <p:cNvPr id="58" name="아이콘 CCTV 카메라 방향" descr="CCTV 카메라 방향">
            <a:extLst>
              <a:ext uri="{FF2B5EF4-FFF2-40B4-BE49-F238E27FC236}">
                <a16:creationId xmlns:a16="http://schemas.microsoft.com/office/drawing/2014/main" id="{9BF69DAE-D193-4D5A-9985-7560F0F6BC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424153">
            <a:off x="2712719" y="4698146"/>
            <a:ext cx="182879" cy="182879"/>
          </a:xfrm>
          <a:prstGeom prst="rect">
            <a:avLst/>
          </a:prstGeom>
        </p:spPr>
      </p:pic>
      <p:pic>
        <p:nvPicPr>
          <p:cNvPr id="59" name="아이콘 CCTV 카메라 방향" descr="CCTV 카메라 방향">
            <a:extLst>
              <a:ext uri="{FF2B5EF4-FFF2-40B4-BE49-F238E27FC236}">
                <a16:creationId xmlns:a16="http://schemas.microsoft.com/office/drawing/2014/main" id="{3F3F5788-4E6D-44AA-98A8-10FB1C5577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327783">
            <a:off x="731520" y="4379478"/>
            <a:ext cx="182879" cy="182879"/>
          </a:xfrm>
          <a:prstGeom prst="rect">
            <a:avLst/>
          </a:prstGeom>
        </p:spPr>
      </p:pic>
      <p:pic>
        <p:nvPicPr>
          <p:cNvPr id="60" name="아이콘 CCTV 카메라 방향" descr="CCTV 카메라 방향">
            <a:extLst>
              <a:ext uri="{FF2B5EF4-FFF2-40B4-BE49-F238E27FC236}">
                <a16:creationId xmlns:a16="http://schemas.microsoft.com/office/drawing/2014/main" id="{FE1A5866-BE6A-45B1-A8BE-E9B1C26E4A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707513">
            <a:off x="3878272" y="4220531"/>
            <a:ext cx="182879" cy="182879"/>
          </a:xfrm>
          <a:prstGeom prst="rect">
            <a:avLst/>
          </a:prstGeom>
        </p:spPr>
      </p:pic>
      <p:pic>
        <p:nvPicPr>
          <p:cNvPr id="61" name="아이콘 CCTV 카메라 방향" descr="CCTV 카메라 방향">
            <a:extLst>
              <a:ext uri="{FF2B5EF4-FFF2-40B4-BE49-F238E27FC236}">
                <a16:creationId xmlns:a16="http://schemas.microsoft.com/office/drawing/2014/main" id="{701B160D-5765-4606-A80C-B5D7511130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707513">
            <a:off x="5004339" y="2954238"/>
            <a:ext cx="182879" cy="182879"/>
          </a:xfrm>
          <a:prstGeom prst="rect">
            <a:avLst/>
          </a:prstGeom>
        </p:spPr>
      </p:pic>
      <p:pic>
        <p:nvPicPr>
          <p:cNvPr id="63" name="아이콘 CCTV 카메라 방향" descr="CCTV 카메라 방향">
            <a:extLst>
              <a:ext uri="{FF2B5EF4-FFF2-40B4-BE49-F238E27FC236}">
                <a16:creationId xmlns:a16="http://schemas.microsoft.com/office/drawing/2014/main" id="{71CD0137-A6A2-464D-A6A9-ABD07D15C5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3592613">
            <a:off x="4767792" y="3937124"/>
            <a:ext cx="182879" cy="182879"/>
          </a:xfrm>
          <a:prstGeom prst="rect">
            <a:avLst/>
          </a:prstGeom>
        </p:spPr>
      </p:pic>
      <p:pic>
        <p:nvPicPr>
          <p:cNvPr id="65" name="아이콘 CCTV 카메라 방향" descr="CCTV 카메라 방향">
            <a:extLst>
              <a:ext uri="{FF2B5EF4-FFF2-40B4-BE49-F238E27FC236}">
                <a16:creationId xmlns:a16="http://schemas.microsoft.com/office/drawing/2014/main" id="{1E741758-D64C-4B74-81EA-0A65AACF84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565865">
            <a:off x="5706474" y="1901953"/>
            <a:ext cx="182879" cy="182879"/>
          </a:xfrm>
          <a:prstGeom prst="rect">
            <a:avLst/>
          </a:prstGeom>
        </p:spPr>
      </p:pic>
      <p:pic>
        <p:nvPicPr>
          <p:cNvPr id="66" name="아이콘 CCTV 카메라 방향" descr="CCTV 카메라 방향">
            <a:extLst>
              <a:ext uri="{FF2B5EF4-FFF2-40B4-BE49-F238E27FC236}">
                <a16:creationId xmlns:a16="http://schemas.microsoft.com/office/drawing/2014/main" id="{5B5E9846-A443-405E-AEF6-4BB43FDCC0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587794">
            <a:off x="8520227" y="2301995"/>
            <a:ext cx="182879" cy="182879"/>
          </a:xfrm>
          <a:prstGeom prst="rect">
            <a:avLst/>
          </a:prstGeom>
        </p:spPr>
      </p:pic>
      <p:pic>
        <p:nvPicPr>
          <p:cNvPr id="67" name="아이콘 CCTV 카메라 방향" descr="CCTV 카메라 방향">
            <a:extLst>
              <a:ext uri="{FF2B5EF4-FFF2-40B4-BE49-F238E27FC236}">
                <a16:creationId xmlns:a16="http://schemas.microsoft.com/office/drawing/2014/main" id="{57789221-3CEE-4077-905E-F6E078C577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8045093">
            <a:off x="8130889" y="2943028"/>
            <a:ext cx="182879" cy="182879"/>
          </a:xfrm>
          <a:prstGeom prst="rect">
            <a:avLst/>
          </a:prstGeom>
        </p:spPr>
      </p:pic>
      <p:pic>
        <p:nvPicPr>
          <p:cNvPr id="73" name="아이콘 CCTV 카메라 방향" descr="CCTV 카메라 방향">
            <a:extLst>
              <a:ext uri="{FF2B5EF4-FFF2-40B4-BE49-F238E27FC236}">
                <a16:creationId xmlns:a16="http://schemas.microsoft.com/office/drawing/2014/main" id="{CA25F694-CFFB-499B-AF97-9A651483B1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8045093">
            <a:off x="6844326" y="4071067"/>
            <a:ext cx="182879" cy="182879"/>
          </a:xfrm>
          <a:prstGeom prst="rect">
            <a:avLst/>
          </a:prstGeom>
        </p:spPr>
      </p:pic>
      <p:pic>
        <p:nvPicPr>
          <p:cNvPr id="74" name="아이콘 CCTV 카메라 방향" descr="CCTV 카메라 방향">
            <a:extLst>
              <a:ext uri="{FF2B5EF4-FFF2-40B4-BE49-F238E27FC236}">
                <a16:creationId xmlns:a16="http://schemas.microsoft.com/office/drawing/2014/main" id="{A675072D-947A-4AC2-8A70-752BDCC681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3655270">
            <a:off x="5105810" y="4789895"/>
            <a:ext cx="182879" cy="182879"/>
          </a:xfrm>
          <a:prstGeom prst="rect">
            <a:avLst/>
          </a:prstGeom>
        </p:spPr>
      </p:pic>
      <p:pic>
        <p:nvPicPr>
          <p:cNvPr id="79" name="아이콘 CCTV 카메라 방향" descr="CCTV 카메라 방향">
            <a:extLst>
              <a:ext uri="{FF2B5EF4-FFF2-40B4-BE49-F238E27FC236}">
                <a16:creationId xmlns:a16="http://schemas.microsoft.com/office/drawing/2014/main" id="{D163EE48-0C46-4F19-B3A4-2BC5B6240F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3655270">
            <a:off x="5833903" y="5336228"/>
            <a:ext cx="182879" cy="182879"/>
          </a:xfrm>
          <a:prstGeom prst="rect">
            <a:avLst/>
          </a:prstGeom>
        </p:spPr>
      </p:pic>
      <p:pic>
        <p:nvPicPr>
          <p:cNvPr id="80" name="아이콘 CCTV 카메라 방향" descr="CCTV 카메라 방향">
            <a:extLst>
              <a:ext uri="{FF2B5EF4-FFF2-40B4-BE49-F238E27FC236}">
                <a16:creationId xmlns:a16="http://schemas.microsoft.com/office/drawing/2014/main" id="{B7AECAB8-19D3-4977-9E94-D9C716B27B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3655270">
            <a:off x="7806635" y="5395664"/>
            <a:ext cx="182879" cy="182879"/>
          </a:xfrm>
          <a:prstGeom prst="rect">
            <a:avLst/>
          </a:prstGeom>
        </p:spPr>
      </p:pic>
      <p:pic>
        <p:nvPicPr>
          <p:cNvPr id="81" name="아이콘 CCTV 카메라 방향" descr="CCTV 카메라 방향">
            <a:extLst>
              <a:ext uri="{FF2B5EF4-FFF2-40B4-BE49-F238E27FC236}">
                <a16:creationId xmlns:a16="http://schemas.microsoft.com/office/drawing/2014/main" id="{F3FB3433-0242-49DF-9150-187664D5EB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8487435">
            <a:off x="7987743" y="5406504"/>
            <a:ext cx="182879" cy="182879"/>
          </a:xfrm>
          <a:prstGeom prst="rect">
            <a:avLst/>
          </a:prstGeom>
        </p:spPr>
      </p:pic>
      <p:pic>
        <p:nvPicPr>
          <p:cNvPr id="82" name="아이콘 주장치" descr="주장치">
            <a:extLst>
              <a:ext uri="{FF2B5EF4-FFF2-40B4-BE49-F238E27FC236}">
                <a16:creationId xmlns:a16="http://schemas.microsoft.com/office/drawing/2014/main" id="{D4EBA4FD-8B05-4385-9C59-F16D8557644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7983" y="5298484"/>
            <a:ext cx="258368" cy="258368"/>
          </a:xfrm>
          <a:prstGeom prst="rect">
            <a:avLst/>
          </a:prstGeom>
        </p:spPr>
      </p:pic>
      <p:pic>
        <p:nvPicPr>
          <p:cNvPr id="83" name="아이콘 녹화기" descr="녹화기">
            <a:extLst>
              <a:ext uri="{FF2B5EF4-FFF2-40B4-BE49-F238E27FC236}">
                <a16:creationId xmlns:a16="http://schemas.microsoft.com/office/drawing/2014/main" id="{60E053EB-DD1F-4E7B-B18D-6C8B4B448E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6582" y="5309022"/>
            <a:ext cx="258369" cy="258369"/>
          </a:xfrm>
          <a:prstGeom prst="rect">
            <a:avLst/>
          </a:prstGeom>
        </p:spPr>
      </p:pic>
      <p:pic>
        <p:nvPicPr>
          <p:cNvPr id="84" name="아이콘 비상벨" descr="비상벨">
            <a:extLst>
              <a:ext uri="{FF2B5EF4-FFF2-40B4-BE49-F238E27FC236}">
                <a16:creationId xmlns:a16="http://schemas.microsoft.com/office/drawing/2014/main" id="{6D87D655-6704-4413-A345-E22C5A7E1B6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64880" y="3601889"/>
            <a:ext cx="258631" cy="25863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457200" y="329184"/>
            <a:ext cx="2505456" cy="347472"/>
          </a:xfrm>
          <a:prstGeom prst="roundRect">
            <a:avLst>
              <a:gd name="adj" fmla="val 50000"/>
            </a:avLst>
          </a:prstGeom>
          <a:solidFill>
            <a:srgbClr val="1748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Text Placeholder 1"/>
          <p:cNvSpPr>
            <a:spLocks noGrp="1"/>
          </p:cNvSpPr>
          <p:nvPr>
            <p:ph type="body" idx="104"/>
          </p:nvPr>
        </p:nvSpPr>
        <p:spPr>
          <a:xfrm>
            <a:off x="457200" y="329184"/>
            <a:ext cx="2505456" cy="347472"/>
          </a:xfrm>
        </p:spPr>
        <p:txBody>
          <a:bodyPr lIns="0" tIns="0" rIns="0" bIns="0" anchor="ctr"/>
          <a:lstStyle/>
          <a:p>
            <a:r>
              <a:t>가전  [생활가전 · 디스플레이]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5"/>
          </p:nvPr>
        </p:nvSpPr>
        <p:spPr>
          <a:xfrm>
            <a:off x="457200" y="731520"/>
            <a:ext cx="8686800" cy="548640"/>
          </a:xfrm>
        </p:spPr>
        <p:txBody>
          <a:bodyPr lIns="0" tIns="0" rIns="0" bIns="0" anchor="ctr"/>
          <a:lstStyle/>
          <a:p>
            <a:r>
              <a:t>납기 및 사후관리를 책임지는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2" y="6474508"/>
            <a:ext cx="640080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3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프로젝트</a:t>
            </a:r>
            <a:r>
              <a:rPr sz="13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: </a:t>
            </a:r>
            <a:r>
              <a:rPr sz="13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다나음 정형외과</a:t>
            </a:r>
            <a:r>
              <a:rPr sz="13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  | </a:t>
            </a:r>
            <a:r>
              <a:rPr lang="ko-KR" altLang="en-US" sz="13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무아디자인</a:t>
            </a:r>
            <a:r>
              <a:rPr lang="ko-KR" altLang="en-US" sz="13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협력업체</a:t>
            </a:r>
            <a:endParaRPr sz="13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344168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dirty="0" err="1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가전은</a:t>
            </a:r>
            <a:r>
              <a:rPr sz="1300" b="0" dirty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놓는</a:t>
            </a:r>
            <a:r>
              <a:rPr sz="1300" b="0" dirty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것으로</a:t>
            </a:r>
            <a:r>
              <a:rPr sz="1300" b="0" dirty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끝나지</a:t>
            </a:r>
            <a:r>
              <a:rPr sz="1300" b="0" dirty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않습니다</a:t>
            </a:r>
            <a:r>
              <a:rPr sz="1300" b="0" dirty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. </a:t>
            </a:r>
            <a:r>
              <a:rPr sz="1300" b="0" dirty="0" err="1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인테리어</a:t>
            </a:r>
            <a:r>
              <a:rPr sz="1300" b="0" dirty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공정에</a:t>
            </a:r>
            <a:r>
              <a:rPr sz="1300" b="0" dirty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맞춰</a:t>
            </a:r>
            <a:r>
              <a:rPr sz="1300" b="0" dirty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제때</a:t>
            </a:r>
            <a:r>
              <a:rPr sz="1300" b="0" dirty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입고하고</a:t>
            </a:r>
            <a:r>
              <a:rPr sz="1300" b="0" dirty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1300" b="0" dirty="0" err="1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설치</a:t>
            </a:r>
            <a:r>
              <a:rPr sz="1300" b="0" dirty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 후 AS </a:t>
            </a:r>
            <a:r>
              <a:rPr sz="1300" b="0" dirty="0" err="1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관리까지</a:t>
            </a:r>
            <a:r>
              <a:rPr sz="1300" b="0" dirty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핸드쉐이크가</a:t>
            </a:r>
            <a:r>
              <a:rPr sz="1300" b="0" dirty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책임집니다</a:t>
            </a:r>
            <a:r>
              <a:rPr sz="1300" b="0" dirty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83080"/>
            <a:ext cx="5500116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7200" y="1783080"/>
            <a:ext cx="5500116" cy="868680"/>
          </a:xfrm>
          <a:prstGeom prst="roundRect">
            <a:avLst>
              <a:gd name="adj" fmla="val 12000"/>
            </a:avLst>
          </a:prstGeom>
          <a:solidFill>
            <a:srgbClr val="0A2C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2331720"/>
            <a:ext cx="5500116" cy="320040"/>
          </a:xfrm>
          <a:prstGeom prst="rect">
            <a:avLst/>
          </a:prstGeom>
          <a:solidFill>
            <a:srgbClr val="0A2C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Oval 9"/>
          <p:cNvSpPr/>
          <p:nvPr/>
        </p:nvSpPr>
        <p:spPr>
          <a:xfrm>
            <a:off x="731520" y="1984248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2039112"/>
            <a:ext cx="347472" cy="3474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80160" y="192024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디스플레이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258568"/>
            <a:ext cx="440283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C8D6F0"/>
                </a:solidFill>
                <a:latin typeface="맑은 고딕"/>
                <a:ea typeface="맑은 고딕"/>
                <a:cs typeface="맑은 고딕"/>
              </a:rPr>
              <a:t>사이니지 · 모니터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2898648"/>
            <a:ext cx="384048" cy="384048"/>
          </a:xfrm>
          <a:prstGeom prst="ellipse">
            <a:avLst/>
          </a:prstGeom>
          <a:solidFill>
            <a:srgbClr val="1748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880360"/>
            <a:ext cx="440283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A2C69"/>
                </a:solidFill>
                <a:latin typeface="맑은 고딕"/>
                <a:ea typeface="맑은 고딕"/>
                <a:cs typeface="맑은 고딕"/>
              </a:rPr>
              <a:t>기기 제원 공유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291840"/>
            <a:ext cx="440283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매립 깊이 100mm · 반매립 50mm · 테두리 여유 10mm 등 설치 제원을 무아디자인 현장팀에 사전 전달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280160" y="3858768"/>
            <a:ext cx="4402836" cy="0"/>
          </a:xfrm>
          <a:prstGeom prst="line">
            <a:avLst/>
          </a:prstGeom>
          <a:ln w="9525">
            <a:solidFill>
              <a:srgbClr val="E3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731520" y="3950207"/>
            <a:ext cx="384048" cy="384048"/>
          </a:xfrm>
          <a:prstGeom prst="ellipse">
            <a:avLst/>
          </a:prstGeom>
          <a:solidFill>
            <a:srgbClr val="1748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931920"/>
            <a:ext cx="440283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A2C69"/>
                </a:solidFill>
                <a:latin typeface="맑은 고딕"/>
                <a:ea typeface="맑은 고딕"/>
                <a:cs typeface="맑은 고딕"/>
              </a:rPr>
              <a:t>케이블 · 부속품 발송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343400"/>
            <a:ext cx="4402836" cy="4010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dirty="0" err="1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벽체</a:t>
            </a:r>
            <a:r>
              <a:rPr sz="1100" b="0" dirty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마감</a:t>
            </a:r>
            <a:r>
              <a:rPr sz="1100" b="0" dirty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 전 HDMI </a:t>
            </a:r>
            <a:r>
              <a:rPr sz="1100" b="0" dirty="0" err="1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케이블·브라켓</a:t>
            </a:r>
            <a:r>
              <a:rPr sz="1100" b="0" dirty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 등 </a:t>
            </a:r>
            <a:r>
              <a:rPr lang="ko-KR" altLang="en-US" sz="1100" b="0" dirty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필요 </a:t>
            </a:r>
            <a:r>
              <a:rPr sz="1100" b="0" dirty="0" err="1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부속품을</a:t>
            </a:r>
            <a:r>
              <a:rPr sz="1100" b="0" dirty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현장에</a:t>
            </a:r>
            <a:r>
              <a:rPr sz="1100" b="0" dirty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먼저</a:t>
            </a:r>
            <a:r>
              <a:rPr sz="1100" b="0" dirty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보내</a:t>
            </a:r>
            <a:r>
              <a:rPr sz="1100" b="0" dirty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매립</a:t>
            </a:r>
            <a:r>
              <a:rPr sz="1100" b="0" dirty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배선</a:t>
            </a:r>
            <a:r>
              <a:rPr sz="1100" b="0" dirty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완료</a:t>
            </a:r>
            <a:endParaRPr sz="1100" b="0" dirty="0">
              <a:solidFill>
                <a:srgbClr val="4B5F77"/>
              </a:solidFill>
              <a:latin typeface="맑은 고딕"/>
              <a:ea typeface="맑은 고딕"/>
              <a:cs typeface="맑은 고딕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1280160" y="4910328"/>
            <a:ext cx="4402836" cy="0"/>
          </a:xfrm>
          <a:prstGeom prst="line">
            <a:avLst/>
          </a:prstGeom>
          <a:ln w="9525">
            <a:solidFill>
              <a:srgbClr val="E3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731520" y="5001767"/>
            <a:ext cx="384048" cy="384048"/>
          </a:xfrm>
          <a:prstGeom prst="ellipse">
            <a:avLst/>
          </a:prstGeom>
          <a:solidFill>
            <a:srgbClr val="1748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983479"/>
            <a:ext cx="440283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A2C69"/>
                </a:solidFill>
                <a:latin typeface="맑은 고딕"/>
                <a:ea typeface="맑은 고딕"/>
                <a:cs typeface="맑은 고딕"/>
              </a:rPr>
              <a:t>PC 연결 셋팅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394959"/>
            <a:ext cx="440283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정품 브라켓 설치 후 자사 PC와 연결해 화면 송출까지 셋팅 완료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1636" y="1783080"/>
            <a:ext cx="5500116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231636" y="1783080"/>
            <a:ext cx="5500116" cy="868680"/>
          </a:xfrm>
          <a:prstGeom prst="roundRect">
            <a:avLst>
              <a:gd name="adj" fmla="val 12000"/>
            </a:avLst>
          </a:prstGeom>
          <a:solidFill>
            <a:srgbClr val="0A2C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31636" y="2331720"/>
            <a:ext cx="5500116" cy="320040"/>
          </a:xfrm>
          <a:prstGeom prst="rect">
            <a:avLst/>
          </a:prstGeom>
          <a:solidFill>
            <a:srgbClr val="0A2C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Oval 27"/>
          <p:cNvSpPr/>
          <p:nvPr/>
        </p:nvSpPr>
        <p:spPr>
          <a:xfrm>
            <a:off x="6505955" y="1984248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820" y="2039112"/>
            <a:ext cx="347472" cy="347472"/>
          </a:xfrm>
          <a:prstGeom prst="rect">
            <a:avLst/>
          </a:prstGeom>
        </p:spPr>
      </p:pic>
      <p:sp>
        <p:nvSpPr>
          <p:cNvPr id="30" name="Oval 29"/>
          <p:cNvSpPr/>
          <p:nvPr/>
        </p:nvSpPr>
        <p:spPr>
          <a:xfrm>
            <a:off x="7008875" y="1984248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3740" y="2039112"/>
            <a:ext cx="347472" cy="34747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557515" y="192024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생활가전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57515" y="2258568"/>
            <a:ext cx="389991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C8D6F0"/>
                </a:solidFill>
                <a:latin typeface="맑은 고딕"/>
                <a:ea typeface="맑은 고딕"/>
                <a:cs typeface="맑은 고딕"/>
              </a:rPr>
              <a:t>정수기 · 공기청정기 · 세탁건조기 · 냉장고</a:t>
            </a:r>
          </a:p>
        </p:txBody>
      </p:sp>
      <p:sp>
        <p:nvSpPr>
          <p:cNvPr id="34" name="Oval 33"/>
          <p:cNvSpPr/>
          <p:nvPr/>
        </p:nvSpPr>
        <p:spPr>
          <a:xfrm>
            <a:off x="6505955" y="2898648"/>
            <a:ext cx="384048" cy="384048"/>
          </a:xfrm>
          <a:prstGeom prst="ellipse">
            <a:avLst/>
          </a:prstGeom>
          <a:solidFill>
            <a:srgbClr val="1748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54596" y="2880360"/>
            <a:ext cx="440283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A2C69"/>
                </a:solidFill>
                <a:latin typeface="맑은 고딕"/>
                <a:ea typeface="맑은 고딕"/>
                <a:cs typeface="맑은 고딕"/>
              </a:rPr>
              <a:t>수도설비 사전 체크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54596" y="3291840"/>
            <a:ext cx="440283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직수 정수기·세탁기 급배수 위치를 공사 중 미리 확인해 추가 공사 방지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054596" y="3858768"/>
            <a:ext cx="4402836" cy="0"/>
          </a:xfrm>
          <a:prstGeom prst="line">
            <a:avLst/>
          </a:prstGeom>
          <a:ln w="9525">
            <a:solidFill>
              <a:srgbClr val="E3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6505955" y="3950207"/>
            <a:ext cx="384048" cy="384048"/>
          </a:xfrm>
          <a:prstGeom prst="ellipse">
            <a:avLst/>
          </a:prstGeom>
          <a:solidFill>
            <a:srgbClr val="1748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54596" y="3931920"/>
            <a:ext cx="440283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A2C69"/>
                </a:solidFill>
                <a:latin typeface="맑은 고딕"/>
                <a:ea typeface="맑은 고딕"/>
                <a:cs typeface="맑은 고딕"/>
              </a:rPr>
              <a:t>납기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54596" y="4343400"/>
            <a:ext cx="440283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준공청소 D+1 ~ D+5 사이 입고 일정을 인테리어 공정에 맞춰 조율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054596" y="4910328"/>
            <a:ext cx="4402836" cy="0"/>
          </a:xfrm>
          <a:prstGeom prst="line">
            <a:avLst/>
          </a:prstGeom>
          <a:ln w="9525">
            <a:solidFill>
              <a:srgbClr val="E3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6505955" y="5001767"/>
            <a:ext cx="384048" cy="384048"/>
          </a:xfrm>
          <a:prstGeom prst="ellipse">
            <a:avLst/>
          </a:prstGeom>
          <a:solidFill>
            <a:srgbClr val="1748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54596" y="4983479"/>
            <a:ext cx="440283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A2C69"/>
                </a:solidFill>
                <a:latin typeface="맑은 고딕"/>
                <a:ea typeface="맑은 고딕"/>
                <a:cs typeface="맑은 고딕"/>
              </a:rPr>
              <a:t>AS 관리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54596" y="5394959"/>
            <a:ext cx="440283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렌탈·구매 제품 모두 핸드쉐이크가 AS 접수와 관리를 대행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457200" y="329184"/>
            <a:ext cx="2505456" cy="347472"/>
          </a:xfrm>
          <a:prstGeom prst="roundRect">
            <a:avLst>
              <a:gd name="adj" fmla="val 50000"/>
            </a:avLst>
          </a:prstGeom>
          <a:solidFill>
            <a:srgbClr val="1748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Text Placeholder 1"/>
          <p:cNvSpPr>
            <a:spLocks noGrp="1"/>
          </p:cNvSpPr>
          <p:nvPr>
            <p:ph type="body" idx="104"/>
          </p:nvPr>
        </p:nvSpPr>
        <p:spPr>
          <a:xfrm>
            <a:off x="457200" y="329184"/>
            <a:ext cx="2505456" cy="347472"/>
          </a:xfrm>
        </p:spPr>
        <p:txBody>
          <a:bodyPr lIns="0" tIns="0" rIns="0" bIns="0" anchor="ctr"/>
          <a:lstStyle/>
          <a:p>
            <a:r>
              <a:t>가전  [생활가전 · 디스플레이]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5"/>
          </p:nvPr>
        </p:nvSpPr>
        <p:spPr>
          <a:xfrm>
            <a:off x="457200" y="731520"/>
            <a:ext cx="8686800" cy="548640"/>
          </a:xfrm>
        </p:spPr>
        <p:txBody>
          <a:bodyPr lIns="0" tIns="0" rIns="0" bIns="0" anchor="ctr"/>
          <a:lstStyle/>
          <a:p>
            <a:r>
              <a:t>가전 견적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2" y="6474508"/>
            <a:ext cx="640080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3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프로젝트</a:t>
            </a:r>
            <a:r>
              <a:rPr sz="13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: </a:t>
            </a:r>
            <a:r>
              <a:rPr sz="13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다나음 정형외과</a:t>
            </a:r>
            <a:r>
              <a:rPr sz="13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  | </a:t>
            </a:r>
            <a:r>
              <a:rPr lang="ko-KR" altLang="en-US" sz="13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무아디자인</a:t>
            </a:r>
            <a:r>
              <a:rPr lang="ko-KR" altLang="en-US" sz="13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협력업체</a:t>
            </a:r>
            <a:endParaRPr sz="13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57200" y="1325880"/>
            <a:ext cx="5486400" cy="4800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A2C69"/>
                </a:solidFill>
                <a:latin typeface="맑은 고딕"/>
                <a:ea typeface="맑은 고딕"/>
                <a:cs typeface="맑은 고딕"/>
              </a:rPr>
              <a:t>렌탈 (월)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46304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>
                <a:solidFill>
                  <a:srgbClr val="8A97AB"/>
                </a:solidFill>
                <a:latin typeface="맑은 고딕"/>
                <a:ea typeface="맑은 고딕"/>
                <a:cs typeface="맑은 고딕"/>
              </a:rPr>
              <a:t>코웨이 · 약정 36개월 · VAT 별도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74519"/>
            <a:ext cx="4937760" cy="402336"/>
          </a:xfrm>
          <a:prstGeom prst="rect">
            <a:avLst/>
          </a:prstGeom>
          <a:solidFill>
            <a:srgbClr val="0A2C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874519"/>
            <a:ext cx="903427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위치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9267" y="1874519"/>
            <a:ext cx="243413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제품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874519"/>
            <a:ext cx="105156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월 요금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276856"/>
            <a:ext cx="903427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대기실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09267" y="2276856"/>
            <a:ext cx="243413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엘리트 정수기 (냉·온·정수)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276856"/>
            <a:ext cx="105156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26,195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31520" y="2679191"/>
            <a:ext cx="4937760" cy="0"/>
          </a:xfrm>
          <a:prstGeom prst="line">
            <a:avLst/>
          </a:prstGeom>
          <a:ln w="9525">
            <a:solidFill>
              <a:srgbClr val="E3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22960" y="2679191"/>
            <a:ext cx="903427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직원실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09267" y="2679191"/>
            <a:ext cx="243413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아이콘 얼음정수기 스탠다드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2679191"/>
            <a:ext cx="105156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41,650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31520" y="3081527"/>
            <a:ext cx="4937760" cy="0"/>
          </a:xfrm>
          <a:prstGeom prst="line">
            <a:avLst/>
          </a:prstGeom>
          <a:ln w="9525">
            <a:solidFill>
              <a:srgbClr val="E3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22960" y="3081527"/>
            <a:ext cx="903427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가정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09267" y="3081527"/>
            <a:ext cx="243413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노블 빌트인 정수기 (직수)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3081527"/>
            <a:ext cx="105156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34,695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31520" y="3483863"/>
            <a:ext cx="4937760" cy="0"/>
          </a:xfrm>
          <a:prstGeom prst="line">
            <a:avLst/>
          </a:prstGeom>
          <a:ln w="9525">
            <a:solidFill>
              <a:srgbClr val="E3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22960" y="3483863"/>
            <a:ext cx="903427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대기실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09267" y="3483863"/>
            <a:ext cx="243413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노블 공기청정기 (16평형) ×2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3483863"/>
            <a:ext cx="105156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58,573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31520" y="3886200"/>
            <a:ext cx="4937760" cy="0"/>
          </a:xfrm>
          <a:prstGeom prst="line">
            <a:avLst/>
          </a:prstGeom>
          <a:ln w="9525">
            <a:solidFill>
              <a:srgbClr val="E3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731520" y="3922776"/>
            <a:ext cx="4937760" cy="457200"/>
          </a:xfrm>
          <a:prstGeom prst="rect">
            <a:avLst/>
          </a:prstGeom>
          <a:solidFill>
            <a:srgbClr val="DCE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1248" y="3922776"/>
            <a:ext cx="296265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0A2C69"/>
                </a:solidFill>
                <a:latin typeface="맑은 고딕"/>
                <a:ea typeface="맑은 고딕"/>
                <a:cs typeface="맑은 고딕"/>
              </a:rPr>
              <a:t>렌탈 월 합계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06624" y="3922776"/>
            <a:ext cx="28529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300" b="1">
                <a:solidFill>
                  <a:srgbClr val="1748B1"/>
                </a:solidFill>
                <a:latin typeface="맑은 고딕"/>
                <a:ea typeface="맑은 고딕"/>
                <a:cs typeface="맑은 고딕"/>
              </a:rPr>
              <a:t>161,114원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471416"/>
            <a:ext cx="49377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1748B1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050" b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패키지 15% 할인 + 5개월 반값 할인 적용가 · 합계 원 단위 반올림</a:t>
            </a:r>
          </a:p>
          <a:p>
            <a:pPr algn="l">
              <a:lnSpc>
                <a:spcPct val="135000"/>
              </a:lnSpc>
            </a:pPr>
            <a:r>
              <a:rPr sz="1050" b="0">
                <a:solidFill>
                  <a:srgbClr val="1748B1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050" b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관리주기: 정수기 2~6개월 · 공기청정기 6개월 1회 방문 관리</a:t>
            </a:r>
          </a:p>
          <a:p>
            <a:pPr algn="l">
              <a:lnSpc>
                <a:spcPct val="135000"/>
              </a:lnSpc>
            </a:pPr>
            <a:r>
              <a:rPr sz="1050" b="0">
                <a:solidFill>
                  <a:srgbClr val="1748B1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050" b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렌탈 추가 시 구매 가전 프로모션 할인(대당 200,000원) 연계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1325880"/>
            <a:ext cx="5513832" cy="4800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92240" y="146304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A2C69"/>
                </a:solidFill>
                <a:latin typeface="맑은 고딕"/>
                <a:ea typeface="맑은 고딕"/>
                <a:cs typeface="맑은 고딕"/>
              </a:rPr>
              <a:t>구매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1463040"/>
            <a:ext cx="341071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>
                <a:solidFill>
                  <a:srgbClr val="8A97AB"/>
                </a:solidFill>
                <a:latin typeface="맑은 고딕"/>
                <a:ea typeface="맑은 고딕"/>
                <a:cs typeface="맑은 고딕"/>
              </a:rPr>
              <a:t>물류·설치·AS 관리대행 포함 · VAT 별도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92240" y="1874519"/>
            <a:ext cx="4965192" cy="384048"/>
          </a:xfrm>
          <a:prstGeom prst="rect">
            <a:avLst/>
          </a:prstGeom>
          <a:solidFill>
            <a:srgbClr val="0A2C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83679" y="1874519"/>
            <a:ext cx="339205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품목 (위치)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58618" y="1874519"/>
            <a:ext cx="120737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금액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79" y="2258568"/>
            <a:ext cx="339205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LG 세탁건조기 24kg + 20kg (가정)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58618" y="2258568"/>
            <a:ext cx="120737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2,550,000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492240" y="2642615"/>
            <a:ext cx="4965192" cy="0"/>
          </a:xfrm>
          <a:prstGeom prst="line">
            <a:avLst/>
          </a:prstGeom>
          <a:ln w="9525">
            <a:solidFill>
              <a:srgbClr val="E3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583679" y="2642615"/>
            <a:ext cx="339205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기존 세탁건조기 가정 → 의원 이전 (무아디자인 협력)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58618" y="2642615"/>
            <a:ext cx="120737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서비스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492240" y="3026663"/>
            <a:ext cx="4965192" cy="0"/>
          </a:xfrm>
          <a:prstGeom prst="line">
            <a:avLst/>
          </a:prstGeom>
          <a:ln w="9525">
            <a:solidFill>
              <a:srgbClr val="E3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583679" y="3026663"/>
            <a:ext cx="339205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LG 냉장고 344L (직원실)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58618" y="3026663"/>
            <a:ext cx="120737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670,000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492240" y="3410711"/>
            <a:ext cx="4965192" cy="0"/>
          </a:xfrm>
          <a:prstGeom prst="line">
            <a:avLst/>
          </a:prstGeom>
          <a:ln w="9525">
            <a:solidFill>
              <a:srgbClr val="E3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583679" y="3410711"/>
            <a:ext cx="339205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포쿨 소형냉장고 50L ×2 (음료 · 처치)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158618" y="3410711"/>
            <a:ext cx="120737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400,000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492240" y="3794759"/>
            <a:ext cx="4965192" cy="0"/>
          </a:xfrm>
          <a:prstGeom prst="line">
            <a:avLst/>
          </a:prstGeom>
          <a:ln w="9525">
            <a:solidFill>
              <a:srgbClr val="E3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6583679" y="3794759"/>
            <a:ext cx="339205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삼성 사이니지 55" 가로 (외래)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158618" y="3794759"/>
            <a:ext cx="120737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830,000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6492240" y="4178807"/>
            <a:ext cx="4965192" cy="0"/>
          </a:xfrm>
          <a:prstGeom prst="line">
            <a:avLst/>
          </a:prstGeom>
          <a:ln w="9525">
            <a:solidFill>
              <a:srgbClr val="E3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6583679" y="4178807"/>
            <a:ext cx="339205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삼성 사이니지 43" 세로 ×4 (외래)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158618" y="4178807"/>
            <a:ext cx="120737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2,440,000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6492240" y="4562855"/>
            <a:ext cx="4965192" cy="0"/>
          </a:xfrm>
          <a:prstGeom prst="line">
            <a:avLst/>
          </a:prstGeom>
          <a:ln w="9525">
            <a:solidFill>
              <a:srgbClr val="E3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6583679" y="4562855"/>
            <a:ext cx="339205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1748B1"/>
                </a:solidFill>
                <a:latin typeface="맑은 고딕"/>
                <a:ea typeface="맑은 고딕"/>
                <a:cs typeface="맑은 고딕"/>
              </a:rPr>
              <a:t>프로모션 — 가전렌탈 5대 연계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158618" y="4562855"/>
            <a:ext cx="120737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1748B1"/>
                </a:solidFill>
                <a:latin typeface="맑은 고딕"/>
                <a:ea typeface="맑은 고딕"/>
                <a:cs typeface="맑은 고딕"/>
              </a:rPr>
              <a:t>-1,000,000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6492240" y="4946903"/>
            <a:ext cx="4965192" cy="0"/>
          </a:xfrm>
          <a:prstGeom prst="line">
            <a:avLst/>
          </a:prstGeom>
          <a:ln w="9525">
            <a:solidFill>
              <a:srgbClr val="E3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6492240" y="4983479"/>
            <a:ext cx="4965192" cy="438912"/>
          </a:xfrm>
          <a:prstGeom prst="rect">
            <a:avLst/>
          </a:prstGeom>
          <a:solidFill>
            <a:srgbClr val="DCE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601968" y="4983479"/>
            <a:ext cx="2979115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0A2C69"/>
                </a:solidFill>
                <a:latin typeface="맑은 고딕"/>
                <a:ea typeface="맑은 고딕"/>
                <a:cs typeface="맑은 고딕"/>
              </a:rPr>
              <a:t>구매 합계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478316" y="4983479"/>
            <a:ext cx="2869387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300" b="1">
                <a:solidFill>
                  <a:srgbClr val="1748B1"/>
                </a:solidFill>
                <a:latin typeface="맑은 고딕"/>
                <a:ea typeface="맑은 고딕"/>
                <a:cs typeface="맑은 고딕"/>
              </a:rPr>
              <a:t>5,890,000원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92240" y="5513831"/>
            <a:ext cx="496519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748B1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050" b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사이니지: 정품 브라켓 · PC 연결 셋팅 포함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카테고리 배경"/>
          <p:cNvSpPr/>
          <p:nvPr/>
        </p:nvSpPr>
        <p:spPr>
          <a:xfrm>
            <a:off x="457199" y="329184"/>
            <a:ext cx="2472267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3"/>
          <p:cNvSpPr>
            <a:spLocks noGrp="1"/>
          </p:cNvSpPr>
          <p:nvPr>
            <p:ph type="body" idx="104" hasCustomPrompt="1"/>
          </p:nvPr>
        </p:nvSpPr>
        <p:spPr>
          <a:xfrm>
            <a:off x="507998" y="329184"/>
            <a:ext cx="237066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dirty="0"/>
              <a:t>가전 </a:t>
            </a:r>
            <a:r>
              <a:rPr lang="en-US" altLang="ko-KR" dirty="0"/>
              <a:t>[</a:t>
            </a:r>
            <a:r>
              <a:rPr lang="ko-KR" altLang="en-US" dirty="0"/>
              <a:t>생활가전</a:t>
            </a:r>
            <a:r>
              <a:rPr lang="ko-KR" altLang="en-US" sz="1200" b="1" dirty="0">
                <a:solidFill>
                  <a:schemeClr val="bg1"/>
                </a:solidFill>
              </a:rPr>
              <a:t> · </a:t>
            </a:r>
            <a:r>
              <a:rPr lang="ko-KR" altLang="en-US" dirty="0"/>
              <a:t>디스플레이</a:t>
            </a:r>
            <a:r>
              <a:rPr lang="en-US" altLang="ko-KR" dirty="0"/>
              <a:t>]</a:t>
            </a:r>
            <a:endParaRPr lang="en-US" sz="1200" dirty="0"/>
          </a:p>
        </p:txBody>
      </p:sp>
      <p:sp>
        <p:nvSpPr>
          <p:cNvPr id="4" name="Text 3"/>
          <p:cNvSpPr>
            <a:spLocks noGrp="1"/>
          </p:cNvSpPr>
          <p:nvPr>
            <p:ph type="title" idx="105" hasCustomPrompt="1"/>
          </p:nvPr>
        </p:nvSpPr>
        <p:spPr>
          <a:xfrm>
            <a:off x="457200" y="7315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 err="1">
                <a:solidFill>
                  <a:schemeClr val="tx1"/>
                </a:solidFill>
              </a:rPr>
              <a:t>설치</a:t>
            </a:r>
            <a:r>
              <a:rPr lang="en-US" sz="2800" b="1" dirty="0">
                <a:solidFill>
                  <a:schemeClr val="tx1"/>
                </a:solidFill>
              </a:rPr>
              <a:t> 위치도</a:t>
            </a:r>
            <a:endParaRPr lang="en-US" sz="2800" dirty="0"/>
          </a:p>
        </p:txBody>
      </p:sp>
      <p:sp>
        <p:nvSpPr>
          <p:cNvPr id="5" name="도면 영역"/>
          <p:cNvSpPr/>
          <p:nvPr/>
        </p:nvSpPr>
        <p:spPr>
          <a:xfrm>
            <a:off x="457200" y="1481328"/>
            <a:ext cx="8503920" cy="4617720"/>
          </a:xfrm>
          <a:prstGeom prst="rect">
            <a:avLst/>
          </a:prstGeom>
          <a:solidFill>
            <a:schemeClr val="bg1"/>
          </a:solidFill>
          <a:ln w="9525">
            <a:solidFill>
              <a:srgbClr val="E3E8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도면 안내문"/>
          <p:cNvSpPr txBox="1"/>
          <p:nvPr/>
        </p:nvSpPr>
        <p:spPr>
          <a:xfrm>
            <a:off x="457200" y="3378708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CA8B8"/>
                </a:solidFill>
              </a:rPr>
              <a:t>도면 이미지를 이 영역에 맞춰 넣어주세요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CA8B8"/>
                </a:solidFill>
              </a:rPr>
              <a:t>범례 아이콘을 복사해 설치 위치에 올려주세요</a:t>
            </a:r>
            <a:endParaRPr lang="en-US" sz="1600" dirty="0"/>
          </a:p>
        </p:txBody>
      </p:sp>
      <p:sp>
        <p:nvSpPr>
          <p:cNvPr id="9" name="모서리틀 2-가로"/>
          <p:cNvSpPr/>
          <p:nvPr/>
        </p:nvSpPr>
        <p:spPr>
          <a:xfrm>
            <a:off x="8595360" y="1389888"/>
            <a:ext cx="457200" cy="54864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모서리틀 2-세로"/>
          <p:cNvSpPr/>
          <p:nvPr/>
        </p:nvSpPr>
        <p:spPr>
          <a:xfrm>
            <a:off x="8997696" y="1389888"/>
            <a:ext cx="54864" cy="45720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모서리틀 3-가로"/>
          <p:cNvSpPr/>
          <p:nvPr/>
        </p:nvSpPr>
        <p:spPr>
          <a:xfrm>
            <a:off x="365760" y="6135624"/>
            <a:ext cx="457200" cy="54864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모서리틀 3-세로"/>
          <p:cNvSpPr/>
          <p:nvPr/>
        </p:nvSpPr>
        <p:spPr>
          <a:xfrm>
            <a:off x="365760" y="5733288"/>
            <a:ext cx="54864" cy="45720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모서리틀 4-가로"/>
          <p:cNvSpPr/>
          <p:nvPr/>
        </p:nvSpPr>
        <p:spPr>
          <a:xfrm>
            <a:off x="8595360" y="6135624"/>
            <a:ext cx="457200" cy="54864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모서리틀 4-세로"/>
          <p:cNvSpPr/>
          <p:nvPr/>
        </p:nvSpPr>
        <p:spPr>
          <a:xfrm>
            <a:off x="8997696" y="5733288"/>
            <a:ext cx="54864" cy="45720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범례 패널"/>
          <p:cNvSpPr/>
          <p:nvPr/>
        </p:nvSpPr>
        <p:spPr>
          <a:xfrm>
            <a:off x="9235440" y="1481328"/>
            <a:ext cx="2496312" cy="461772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3E8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범례 머리"/>
          <p:cNvSpPr/>
          <p:nvPr/>
        </p:nvSpPr>
        <p:spPr>
          <a:xfrm>
            <a:off x="9235440" y="1481328"/>
            <a:ext cx="2496312" cy="512064"/>
          </a:xfrm>
          <a:prstGeom prst="roundRect">
            <a:avLst>
              <a:gd name="adj" fmla="val 250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범례 머리 하단"/>
          <p:cNvSpPr/>
          <p:nvPr/>
        </p:nvSpPr>
        <p:spPr>
          <a:xfrm>
            <a:off x="9235440" y="1755648"/>
            <a:ext cx="2496312" cy="237744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범례 제목"/>
          <p:cNvSpPr txBox="1"/>
          <p:nvPr/>
        </p:nvSpPr>
        <p:spPr>
          <a:xfrm>
            <a:off x="9464040" y="1481328"/>
            <a:ext cx="20391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범례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464040" y="1481328"/>
            <a:ext cx="20391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8D6F0"/>
                </a:solidFill>
              </a:rPr>
              <a:t>8개 품목</a:t>
            </a:r>
            <a:endParaRPr lang="en-US" sz="1100" dirty="0"/>
          </a:p>
        </p:txBody>
      </p:sp>
      <p:pic>
        <p:nvPicPr>
          <p:cNvPr id="20" name="아이콘 정수기" descr="정수기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0" y="2079082"/>
            <a:ext cx="332681" cy="332681"/>
          </a:xfrm>
          <a:prstGeom prst="rect">
            <a:avLst/>
          </a:prstGeom>
        </p:spPr>
      </p:pic>
      <p:sp>
        <p:nvSpPr>
          <p:cNvPr id="21" name="라벨 정수기"/>
          <p:cNvSpPr txBox="1"/>
          <p:nvPr/>
        </p:nvSpPr>
        <p:spPr>
          <a:xfrm>
            <a:off x="9961313" y="1993392"/>
            <a:ext cx="1633278" cy="504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정수기</a:t>
            </a:r>
            <a:endParaRPr lang="en-US" sz="1400" dirty="0"/>
          </a:p>
        </p:txBody>
      </p:sp>
      <p:sp>
        <p:nvSpPr>
          <p:cNvPr id="22" name="구분선 1"/>
          <p:cNvSpPr/>
          <p:nvPr/>
        </p:nvSpPr>
        <p:spPr>
          <a:xfrm>
            <a:off x="9418319" y="2497455"/>
            <a:ext cx="2130552" cy="0"/>
          </a:xfrm>
          <a:prstGeom prst="line">
            <a:avLst/>
          </a:prstGeom>
          <a:noFill/>
          <a:ln w="9525">
            <a:solidFill>
              <a:srgbClr val="E3E8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3" name="아이콘 비데" descr="비데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2583145"/>
            <a:ext cx="332681" cy="332681"/>
          </a:xfrm>
          <a:prstGeom prst="rect">
            <a:avLst/>
          </a:prstGeom>
        </p:spPr>
      </p:pic>
      <p:sp>
        <p:nvSpPr>
          <p:cNvPr id="24" name="라벨 비데"/>
          <p:cNvSpPr txBox="1"/>
          <p:nvPr/>
        </p:nvSpPr>
        <p:spPr>
          <a:xfrm>
            <a:off x="9961313" y="2497455"/>
            <a:ext cx="1633278" cy="504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비데</a:t>
            </a:r>
            <a:endParaRPr lang="en-US" sz="1400" dirty="0"/>
          </a:p>
        </p:txBody>
      </p:sp>
      <p:sp>
        <p:nvSpPr>
          <p:cNvPr id="25" name="구분선 2"/>
          <p:cNvSpPr/>
          <p:nvPr/>
        </p:nvSpPr>
        <p:spPr>
          <a:xfrm>
            <a:off x="9418319" y="3001518"/>
            <a:ext cx="2130552" cy="0"/>
          </a:xfrm>
          <a:prstGeom prst="line">
            <a:avLst/>
          </a:prstGeom>
          <a:noFill/>
          <a:ln w="9525">
            <a:solidFill>
              <a:srgbClr val="E3E8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6" name="아이콘 공기청정기" descr="공기청정기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4040" y="3087208"/>
            <a:ext cx="332681" cy="332681"/>
          </a:xfrm>
          <a:prstGeom prst="rect">
            <a:avLst/>
          </a:prstGeom>
        </p:spPr>
      </p:pic>
      <p:sp>
        <p:nvSpPr>
          <p:cNvPr id="27" name="라벨 공기청정기"/>
          <p:cNvSpPr txBox="1"/>
          <p:nvPr/>
        </p:nvSpPr>
        <p:spPr>
          <a:xfrm>
            <a:off x="9961313" y="3001518"/>
            <a:ext cx="1633278" cy="504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공기청정기</a:t>
            </a:r>
            <a:endParaRPr lang="en-US" sz="1400" dirty="0"/>
          </a:p>
        </p:txBody>
      </p:sp>
      <p:sp>
        <p:nvSpPr>
          <p:cNvPr id="28" name="구분선 3"/>
          <p:cNvSpPr/>
          <p:nvPr/>
        </p:nvSpPr>
        <p:spPr>
          <a:xfrm>
            <a:off x="9418319" y="3505581"/>
            <a:ext cx="2130552" cy="0"/>
          </a:xfrm>
          <a:prstGeom prst="line">
            <a:avLst/>
          </a:prstGeom>
          <a:noFill/>
          <a:ln w="9525">
            <a:solidFill>
              <a:srgbClr val="E3E8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9" name="아이콘 커피머신" descr="커피머신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4040" y="3591271"/>
            <a:ext cx="332681" cy="332681"/>
          </a:xfrm>
          <a:prstGeom prst="rect">
            <a:avLst/>
          </a:prstGeom>
        </p:spPr>
      </p:pic>
      <p:sp>
        <p:nvSpPr>
          <p:cNvPr id="30" name="라벨 커피머신"/>
          <p:cNvSpPr txBox="1"/>
          <p:nvPr/>
        </p:nvSpPr>
        <p:spPr>
          <a:xfrm>
            <a:off x="9961313" y="3505581"/>
            <a:ext cx="1633278" cy="504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커피머신</a:t>
            </a:r>
            <a:endParaRPr lang="en-US" sz="1400" dirty="0"/>
          </a:p>
        </p:txBody>
      </p:sp>
      <p:sp>
        <p:nvSpPr>
          <p:cNvPr id="31" name="구분선 4"/>
          <p:cNvSpPr/>
          <p:nvPr/>
        </p:nvSpPr>
        <p:spPr>
          <a:xfrm>
            <a:off x="9418319" y="4009644"/>
            <a:ext cx="2130552" cy="0"/>
          </a:xfrm>
          <a:prstGeom prst="line">
            <a:avLst/>
          </a:prstGeom>
          <a:noFill/>
          <a:ln w="9525">
            <a:solidFill>
              <a:srgbClr val="E3E8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2" name="아이콘 세탁기·건조기" descr="세탁기·건조기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64040" y="4095334"/>
            <a:ext cx="332681" cy="332681"/>
          </a:xfrm>
          <a:prstGeom prst="rect">
            <a:avLst/>
          </a:prstGeom>
        </p:spPr>
      </p:pic>
      <p:sp>
        <p:nvSpPr>
          <p:cNvPr id="33" name="라벨 세탁기·건조기"/>
          <p:cNvSpPr txBox="1"/>
          <p:nvPr/>
        </p:nvSpPr>
        <p:spPr>
          <a:xfrm>
            <a:off x="9961313" y="4009644"/>
            <a:ext cx="1633278" cy="504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세탁기·건조기</a:t>
            </a:r>
            <a:endParaRPr lang="en-US" sz="1400" dirty="0"/>
          </a:p>
        </p:txBody>
      </p:sp>
      <p:sp>
        <p:nvSpPr>
          <p:cNvPr id="34" name="구분선 5"/>
          <p:cNvSpPr/>
          <p:nvPr/>
        </p:nvSpPr>
        <p:spPr>
          <a:xfrm>
            <a:off x="9418319" y="4513707"/>
            <a:ext cx="2130552" cy="0"/>
          </a:xfrm>
          <a:prstGeom prst="line">
            <a:avLst/>
          </a:prstGeom>
          <a:noFill/>
          <a:ln w="9525">
            <a:solidFill>
              <a:srgbClr val="E3E8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5" name="아이콘 냉장고" descr="냉장고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64040" y="4599397"/>
            <a:ext cx="332681" cy="332681"/>
          </a:xfrm>
          <a:prstGeom prst="rect">
            <a:avLst/>
          </a:prstGeom>
        </p:spPr>
      </p:pic>
      <p:sp>
        <p:nvSpPr>
          <p:cNvPr id="36" name="라벨 냉장고"/>
          <p:cNvSpPr txBox="1"/>
          <p:nvPr/>
        </p:nvSpPr>
        <p:spPr>
          <a:xfrm>
            <a:off x="9961313" y="4513707"/>
            <a:ext cx="1633278" cy="504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냉장고</a:t>
            </a:r>
            <a:endParaRPr lang="en-US" sz="1400" dirty="0"/>
          </a:p>
        </p:txBody>
      </p:sp>
      <p:sp>
        <p:nvSpPr>
          <p:cNvPr id="37" name="구분선 6"/>
          <p:cNvSpPr/>
          <p:nvPr/>
        </p:nvSpPr>
        <p:spPr>
          <a:xfrm>
            <a:off x="9418319" y="5017770"/>
            <a:ext cx="2130552" cy="0"/>
          </a:xfrm>
          <a:prstGeom prst="line">
            <a:avLst/>
          </a:prstGeom>
          <a:noFill/>
          <a:ln w="9525">
            <a:solidFill>
              <a:srgbClr val="E3E8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8" name="아이콘 사이니지" descr="사이니지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64040" y="5103460"/>
            <a:ext cx="332681" cy="332681"/>
          </a:xfrm>
          <a:prstGeom prst="rect">
            <a:avLst/>
          </a:prstGeom>
        </p:spPr>
      </p:pic>
      <p:sp>
        <p:nvSpPr>
          <p:cNvPr id="39" name="라벨 사이니지"/>
          <p:cNvSpPr txBox="1"/>
          <p:nvPr/>
        </p:nvSpPr>
        <p:spPr>
          <a:xfrm>
            <a:off x="9961313" y="5017770"/>
            <a:ext cx="1633278" cy="504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사이니지</a:t>
            </a:r>
            <a:endParaRPr lang="en-US" sz="1400" dirty="0"/>
          </a:p>
        </p:txBody>
      </p:sp>
      <p:sp>
        <p:nvSpPr>
          <p:cNvPr id="54" name="라벨 전자레인지"/>
          <p:cNvSpPr txBox="1"/>
          <p:nvPr/>
        </p:nvSpPr>
        <p:spPr>
          <a:xfrm>
            <a:off x="9961313" y="5521833"/>
            <a:ext cx="1633278" cy="504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전자레인지</a:t>
            </a:r>
            <a:endParaRPr lang="en-US" sz="1400" dirty="0"/>
          </a:p>
        </p:txBody>
      </p:sp>
      <p:sp>
        <p:nvSpPr>
          <p:cNvPr id="55" name="구분선 7"/>
          <p:cNvSpPr/>
          <p:nvPr/>
        </p:nvSpPr>
        <p:spPr>
          <a:xfrm>
            <a:off x="9418319" y="5521833"/>
            <a:ext cx="2130552" cy="0"/>
          </a:xfrm>
          <a:prstGeom prst="line">
            <a:avLst/>
          </a:prstGeom>
          <a:noFill/>
          <a:ln w="9525">
            <a:solidFill>
              <a:srgbClr val="E3E8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3" name="아이콘 전자레인지" descr="전자레인지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64040" y="5607523"/>
            <a:ext cx="332681" cy="332681"/>
          </a:xfrm>
          <a:prstGeom prst="rect">
            <a:avLst/>
          </a:prstGeom>
        </p:spPr>
      </p:pic>
      <p:sp>
        <p:nvSpPr>
          <p:cNvPr id="56" name="납품현장"/>
          <p:cNvSpPr txBox="1"/>
          <p:nvPr/>
        </p:nvSpPr>
        <p:spPr>
          <a:xfrm>
            <a:off x="5330952" y="6506512"/>
            <a:ext cx="640080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ko-KR" altLang="en-US" sz="1300" b="1" dirty="0">
                <a:solidFill>
                  <a:srgbClr val="FFFFFF"/>
                </a:solidFill>
              </a:rPr>
              <a:t>프로젝트 </a:t>
            </a:r>
            <a:r>
              <a:rPr lang="en-US" altLang="ko-KR" sz="1300" b="1" dirty="0">
                <a:solidFill>
                  <a:srgbClr val="FFFFFF"/>
                </a:solidFill>
              </a:rPr>
              <a:t>: </a:t>
            </a:r>
            <a:r>
              <a:rPr lang="ko-KR" altLang="en-US" sz="1300" b="1" dirty="0" err="1">
                <a:solidFill>
                  <a:srgbClr val="FFFFFF"/>
                </a:solidFill>
              </a:rPr>
              <a:t>다나음</a:t>
            </a:r>
            <a:r>
              <a:rPr lang="ko-KR" altLang="en-US" sz="1300" b="1" dirty="0">
                <a:solidFill>
                  <a:srgbClr val="FFFFFF"/>
                </a:solidFill>
              </a:rPr>
              <a:t> 정형외과   |   무아디자인 협력업체</a:t>
            </a:r>
          </a:p>
        </p:txBody>
      </p:sp>
      <p:pic>
        <p:nvPicPr>
          <p:cNvPr id="63" name="그림 62">
            <a:extLst>
              <a:ext uri="{FF2B5EF4-FFF2-40B4-BE49-F238E27FC236}">
                <a16:creationId xmlns:a16="http://schemas.microsoft.com/office/drawing/2014/main" id="{E1727E09-416E-4E4E-99F5-C1A197423AE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3288" y="1708816"/>
            <a:ext cx="8210672" cy="4110784"/>
          </a:xfrm>
          <a:prstGeom prst="rect">
            <a:avLst/>
          </a:prstGeom>
        </p:spPr>
      </p:pic>
      <p:pic>
        <p:nvPicPr>
          <p:cNvPr id="73" name="아이콘 정수기" descr="정수기">
            <a:extLst>
              <a:ext uri="{FF2B5EF4-FFF2-40B4-BE49-F238E27FC236}">
                <a16:creationId xmlns:a16="http://schemas.microsoft.com/office/drawing/2014/main" id="{BB8D4067-DFA2-476D-A5F4-186A8ED753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8307" y="2588655"/>
            <a:ext cx="213809" cy="213809"/>
          </a:xfrm>
          <a:prstGeom prst="rect">
            <a:avLst/>
          </a:prstGeom>
        </p:spPr>
      </p:pic>
      <p:pic>
        <p:nvPicPr>
          <p:cNvPr id="74" name="아이콘 공기청정기" descr="공기청정기">
            <a:extLst>
              <a:ext uri="{FF2B5EF4-FFF2-40B4-BE49-F238E27FC236}">
                <a16:creationId xmlns:a16="http://schemas.microsoft.com/office/drawing/2014/main" id="{36CD484E-5A8F-4A0A-9BDB-8733D35DF9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7366" y="3001518"/>
            <a:ext cx="215184" cy="215184"/>
          </a:xfrm>
          <a:prstGeom prst="rect">
            <a:avLst/>
          </a:prstGeom>
        </p:spPr>
      </p:pic>
      <p:pic>
        <p:nvPicPr>
          <p:cNvPr id="75" name="아이콘 공기청정기" descr="공기청정기">
            <a:extLst>
              <a:ext uri="{FF2B5EF4-FFF2-40B4-BE49-F238E27FC236}">
                <a16:creationId xmlns:a16="http://schemas.microsoft.com/office/drawing/2014/main" id="{9E0E0326-098F-429F-91B2-A3DBB631E4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7815" y="4161575"/>
            <a:ext cx="215184" cy="215184"/>
          </a:xfrm>
          <a:prstGeom prst="rect">
            <a:avLst/>
          </a:prstGeom>
        </p:spPr>
      </p:pic>
      <p:pic>
        <p:nvPicPr>
          <p:cNvPr id="76" name="아이콘 냉장고" descr="냉장고">
            <a:extLst>
              <a:ext uri="{FF2B5EF4-FFF2-40B4-BE49-F238E27FC236}">
                <a16:creationId xmlns:a16="http://schemas.microsoft.com/office/drawing/2014/main" id="{FF770519-0E04-46E2-895C-CA183872C01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5077" y="2535676"/>
            <a:ext cx="213809" cy="213809"/>
          </a:xfrm>
          <a:prstGeom prst="rect">
            <a:avLst/>
          </a:prstGeom>
        </p:spPr>
      </p:pic>
      <p:pic>
        <p:nvPicPr>
          <p:cNvPr id="78" name="아이콘 정수기" descr="정수기">
            <a:extLst>
              <a:ext uri="{FF2B5EF4-FFF2-40B4-BE49-F238E27FC236}">
                <a16:creationId xmlns:a16="http://schemas.microsoft.com/office/drawing/2014/main" id="{F3B5304A-712E-4E8B-98DD-1880643A98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107" y="2535676"/>
            <a:ext cx="213809" cy="213809"/>
          </a:xfrm>
          <a:prstGeom prst="rect">
            <a:avLst/>
          </a:prstGeom>
        </p:spPr>
      </p:pic>
      <p:pic>
        <p:nvPicPr>
          <p:cNvPr id="79" name="아이콘 냉장고" descr="냉장고">
            <a:extLst>
              <a:ext uri="{FF2B5EF4-FFF2-40B4-BE49-F238E27FC236}">
                <a16:creationId xmlns:a16="http://schemas.microsoft.com/office/drawing/2014/main" id="{C1E09A27-297D-436B-ABE9-5F5EA7288F2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8460" y="4311785"/>
            <a:ext cx="215184" cy="215184"/>
          </a:xfrm>
          <a:prstGeom prst="rect">
            <a:avLst/>
          </a:prstGeom>
        </p:spPr>
      </p:pic>
      <p:pic>
        <p:nvPicPr>
          <p:cNvPr id="80" name="아이콘 사이니지" descr="사이니지">
            <a:extLst>
              <a:ext uri="{FF2B5EF4-FFF2-40B4-BE49-F238E27FC236}">
                <a16:creationId xmlns:a16="http://schemas.microsoft.com/office/drawing/2014/main" id="{4AEE50C8-8B87-40C9-8691-61E4E3CC3E9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7081" y="3852660"/>
            <a:ext cx="208488" cy="208488"/>
          </a:xfrm>
          <a:prstGeom prst="rect">
            <a:avLst/>
          </a:prstGeom>
        </p:spPr>
      </p:pic>
      <p:pic>
        <p:nvPicPr>
          <p:cNvPr id="81" name="아이콘 사이니지" descr="사이니지">
            <a:extLst>
              <a:ext uri="{FF2B5EF4-FFF2-40B4-BE49-F238E27FC236}">
                <a16:creationId xmlns:a16="http://schemas.microsoft.com/office/drawing/2014/main" id="{4DF5B6EE-8363-450A-8D32-84A63E6C773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82550" y="3845925"/>
            <a:ext cx="208488" cy="208488"/>
          </a:xfrm>
          <a:prstGeom prst="rect">
            <a:avLst/>
          </a:prstGeom>
        </p:spPr>
      </p:pic>
      <p:pic>
        <p:nvPicPr>
          <p:cNvPr id="82" name="아이콘 사이니지" descr="사이니지">
            <a:extLst>
              <a:ext uri="{FF2B5EF4-FFF2-40B4-BE49-F238E27FC236}">
                <a16:creationId xmlns:a16="http://schemas.microsoft.com/office/drawing/2014/main" id="{33223322-46FC-4129-99A1-C8FAC32DF66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73184" y="3886846"/>
            <a:ext cx="208488" cy="208488"/>
          </a:xfrm>
          <a:prstGeom prst="rect">
            <a:avLst/>
          </a:prstGeom>
        </p:spPr>
      </p:pic>
      <p:pic>
        <p:nvPicPr>
          <p:cNvPr id="84" name="아이콘 사이니지" descr="사이니지">
            <a:extLst>
              <a:ext uri="{FF2B5EF4-FFF2-40B4-BE49-F238E27FC236}">
                <a16:creationId xmlns:a16="http://schemas.microsoft.com/office/drawing/2014/main" id="{136D7533-666F-4C53-B970-C693272FF0B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03301" y="3864068"/>
            <a:ext cx="208488" cy="208488"/>
          </a:xfrm>
          <a:prstGeom prst="rect">
            <a:avLst/>
          </a:prstGeom>
        </p:spPr>
      </p:pic>
      <p:pic>
        <p:nvPicPr>
          <p:cNvPr id="85" name="아이콘 사이니지" descr="사이니지">
            <a:extLst>
              <a:ext uri="{FF2B5EF4-FFF2-40B4-BE49-F238E27FC236}">
                <a16:creationId xmlns:a16="http://schemas.microsoft.com/office/drawing/2014/main" id="{54B62BEF-CF96-475B-ACBC-F523FEF6C06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2372" y="3863628"/>
            <a:ext cx="208488" cy="208488"/>
          </a:xfrm>
          <a:prstGeom prst="rect">
            <a:avLst/>
          </a:prstGeom>
        </p:spPr>
      </p:pic>
      <p:pic>
        <p:nvPicPr>
          <p:cNvPr id="87" name="아이콘 사이니지" descr="사이니지">
            <a:extLst>
              <a:ext uri="{FF2B5EF4-FFF2-40B4-BE49-F238E27FC236}">
                <a16:creationId xmlns:a16="http://schemas.microsoft.com/office/drawing/2014/main" id="{03D7D81A-6699-4B35-978C-2D6C16A74ED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16451" y="5144781"/>
            <a:ext cx="208488" cy="208488"/>
          </a:xfrm>
          <a:prstGeom prst="rect">
            <a:avLst/>
          </a:prstGeom>
        </p:spPr>
      </p:pic>
      <p:pic>
        <p:nvPicPr>
          <p:cNvPr id="88" name="아이콘 사이니지" descr="사이니지">
            <a:extLst>
              <a:ext uri="{FF2B5EF4-FFF2-40B4-BE49-F238E27FC236}">
                <a16:creationId xmlns:a16="http://schemas.microsoft.com/office/drawing/2014/main" id="{B25238AB-7DAE-4BEC-94B5-0E2FD15F021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37544" y="4795349"/>
            <a:ext cx="208488" cy="208488"/>
          </a:xfrm>
          <a:prstGeom prst="rect">
            <a:avLst/>
          </a:prstGeom>
        </p:spPr>
      </p:pic>
      <p:sp>
        <p:nvSpPr>
          <p:cNvPr id="89" name="라벨 사이니지">
            <a:extLst>
              <a:ext uri="{FF2B5EF4-FFF2-40B4-BE49-F238E27FC236}">
                <a16:creationId xmlns:a16="http://schemas.microsoft.com/office/drawing/2014/main" id="{8088367A-EB4D-4099-8447-4F0DF36B46DC}"/>
              </a:ext>
            </a:extLst>
          </p:cNvPr>
          <p:cNvSpPr txBox="1"/>
          <p:nvPr/>
        </p:nvSpPr>
        <p:spPr>
          <a:xfrm>
            <a:off x="6081241" y="3452841"/>
            <a:ext cx="1633278" cy="504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55”</a:t>
            </a:r>
            <a:r>
              <a:rPr lang="ko-KR" altLang="en-US" sz="1400" b="1" dirty="0">
                <a:solidFill>
                  <a:schemeClr val="tx1"/>
                </a:solidFill>
              </a:rPr>
              <a:t>가로설치</a:t>
            </a:r>
            <a:r>
              <a:rPr lang="en-US" altLang="ko-KR" sz="1400" b="1" dirty="0">
                <a:solidFill>
                  <a:schemeClr val="tx1"/>
                </a:solidFill>
              </a:rPr>
              <a:t>*1</a:t>
            </a:r>
            <a:endParaRPr lang="en-US" sz="1400" dirty="0"/>
          </a:p>
        </p:txBody>
      </p:sp>
      <p:sp>
        <p:nvSpPr>
          <p:cNvPr id="90" name="라벨 사이니지">
            <a:extLst>
              <a:ext uri="{FF2B5EF4-FFF2-40B4-BE49-F238E27FC236}">
                <a16:creationId xmlns:a16="http://schemas.microsoft.com/office/drawing/2014/main" id="{DEBC764A-BDB7-46D0-A60F-98C2536EC643}"/>
              </a:ext>
            </a:extLst>
          </p:cNvPr>
          <p:cNvSpPr txBox="1"/>
          <p:nvPr/>
        </p:nvSpPr>
        <p:spPr>
          <a:xfrm>
            <a:off x="4595794" y="3450475"/>
            <a:ext cx="1633278" cy="504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/>
              <a:t>43</a:t>
            </a:r>
            <a:r>
              <a:rPr lang="en-US" sz="1400" b="1" dirty="0">
                <a:solidFill>
                  <a:schemeClr val="tx1"/>
                </a:solidFill>
              </a:rPr>
              <a:t>”</a:t>
            </a:r>
            <a:r>
              <a:rPr lang="ko-KR" altLang="en-US" sz="1400" b="1" dirty="0"/>
              <a:t>세로</a:t>
            </a:r>
            <a:r>
              <a:rPr lang="ko-KR" altLang="en-US" sz="1400" b="1" dirty="0">
                <a:solidFill>
                  <a:schemeClr val="tx1"/>
                </a:solidFill>
              </a:rPr>
              <a:t>설치</a:t>
            </a:r>
            <a:r>
              <a:rPr lang="en-US" altLang="ko-KR" sz="1400" b="1" dirty="0">
                <a:solidFill>
                  <a:schemeClr val="tx1"/>
                </a:solidFill>
              </a:rPr>
              <a:t>*2</a:t>
            </a:r>
            <a:endParaRPr lang="en-US" sz="1400" dirty="0"/>
          </a:p>
        </p:txBody>
      </p:sp>
      <p:sp>
        <p:nvSpPr>
          <p:cNvPr id="91" name="라벨 사이니지">
            <a:extLst>
              <a:ext uri="{FF2B5EF4-FFF2-40B4-BE49-F238E27FC236}">
                <a16:creationId xmlns:a16="http://schemas.microsoft.com/office/drawing/2014/main" id="{9E330532-9CFF-4362-B630-273DB1A34969}"/>
              </a:ext>
            </a:extLst>
          </p:cNvPr>
          <p:cNvSpPr txBox="1"/>
          <p:nvPr/>
        </p:nvSpPr>
        <p:spPr>
          <a:xfrm>
            <a:off x="7410138" y="3449831"/>
            <a:ext cx="1633278" cy="504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/>
              <a:t>43</a:t>
            </a:r>
            <a:r>
              <a:rPr lang="en-US" sz="1400" b="1" dirty="0">
                <a:solidFill>
                  <a:schemeClr val="tx1"/>
                </a:solidFill>
              </a:rPr>
              <a:t>”</a:t>
            </a:r>
            <a:r>
              <a:rPr lang="ko-KR" altLang="en-US" sz="1400" b="1" dirty="0"/>
              <a:t>세로</a:t>
            </a:r>
            <a:r>
              <a:rPr lang="ko-KR" altLang="en-US" sz="1400" b="1" dirty="0">
                <a:solidFill>
                  <a:schemeClr val="tx1"/>
                </a:solidFill>
              </a:rPr>
              <a:t>설치</a:t>
            </a:r>
            <a:r>
              <a:rPr lang="en-US" altLang="ko-KR" sz="1400" b="1" dirty="0">
                <a:solidFill>
                  <a:schemeClr val="tx1"/>
                </a:solidFill>
              </a:rPr>
              <a:t>*2</a:t>
            </a:r>
            <a:endParaRPr lang="en-US" sz="1400" dirty="0"/>
          </a:p>
        </p:txBody>
      </p:sp>
      <p:sp>
        <p:nvSpPr>
          <p:cNvPr id="92" name="라벨 사이니지">
            <a:extLst>
              <a:ext uri="{FF2B5EF4-FFF2-40B4-BE49-F238E27FC236}">
                <a16:creationId xmlns:a16="http://schemas.microsoft.com/office/drawing/2014/main" id="{C887DD81-773A-4045-870A-837A45D4CD04}"/>
              </a:ext>
            </a:extLst>
          </p:cNvPr>
          <p:cNvSpPr txBox="1"/>
          <p:nvPr/>
        </p:nvSpPr>
        <p:spPr>
          <a:xfrm>
            <a:off x="5103308" y="5296195"/>
            <a:ext cx="1633278" cy="504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/>
              <a:t>55”</a:t>
            </a:r>
            <a:r>
              <a:rPr lang="ko-KR" altLang="en-US" sz="1400" b="1" dirty="0"/>
              <a:t>가로설치 또는 </a:t>
            </a:r>
            <a:r>
              <a:rPr lang="en-US" altLang="ko-KR" sz="1400" b="1" dirty="0"/>
              <a:t>43”</a:t>
            </a:r>
            <a:r>
              <a:rPr lang="ko-KR" altLang="en-US" sz="1400" b="1" dirty="0"/>
              <a:t>가로설치 미정</a:t>
            </a:r>
            <a:endParaRPr lang="en-US" sz="1400" dirty="0"/>
          </a:p>
        </p:txBody>
      </p:sp>
      <p:sp>
        <p:nvSpPr>
          <p:cNvPr id="93" name="라벨 사이니지">
            <a:extLst>
              <a:ext uri="{FF2B5EF4-FFF2-40B4-BE49-F238E27FC236}">
                <a16:creationId xmlns:a16="http://schemas.microsoft.com/office/drawing/2014/main" id="{7ACB3CEE-3E6A-4D72-90A8-8567256A605F}"/>
              </a:ext>
            </a:extLst>
          </p:cNvPr>
          <p:cNvSpPr txBox="1"/>
          <p:nvPr/>
        </p:nvSpPr>
        <p:spPr>
          <a:xfrm>
            <a:off x="7666170" y="4941143"/>
            <a:ext cx="1633278" cy="504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/>
              <a:t>43</a:t>
            </a:r>
            <a:r>
              <a:rPr lang="en-US" sz="1400" b="1" dirty="0">
                <a:solidFill>
                  <a:schemeClr val="tx1"/>
                </a:solidFill>
              </a:rPr>
              <a:t>”</a:t>
            </a:r>
            <a:r>
              <a:rPr lang="ko-KR" altLang="en-US" sz="1400" b="1" dirty="0">
                <a:solidFill>
                  <a:schemeClr val="tx1"/>
                </a:solidFill>
              </a:rPr>
              <a:t>가로설치 미정</a:t>
            </a:r>
            <a:endParaRPr lang="en-US" sz="1400" dirty="0"/>
          </a:p>
        </p:txBody>
      </p:sp>
      <p:pic>
        <p:nvPicPr>
          <p:cNvPr id="94" name="아이콘 냉장고" descr="냉장고">
            <a:extLst>
              <a:ext uri="{FF2B5EF4-FFF2-40B4-BE49-F238E27FC236}">
                <a16:creationId xmlns:a16="http://schemas.microsoft.com/office/drawing/2014/main" id="{4C050E35-E845-4848-AB2C-E0C4C55D47D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1986" y="4137898"/>
            <a:ext cx="215184" cy="21518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457200" y="329184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1748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Text Placeholder 1"/>
          <p:cNvSpPr>
            <a:spLocks noGrp="1"/>
          </p:cNvSpPr>
          <p:nvPr>
            <p:ph type="body" idx="104"/>
          </p:nvPr>
        </p:nvSpPr>
        <p:spPr>
          <a:xfrm>
            <a:off x="457200" y="329184"/>
            <a:ext cx="1737360" cy="347472"/>
          </a:xfrm>
        </p:spPr>
        <p:txBody>
          <a:bodyPr lIns="0" tIns="0" rIns="0" bIns="0" anchor="ctr"/>
          <a:lstStyle/>
          <a:p>
            <a:r>
              <a:t>종합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5"/>
          </p:nvPr>
        </p:nvSpPr>
        <p:spPr>
          <a:xfrm>
            <a:off x="457200" y="731520"/>
            <a:ext cx="8686800" cy="548640"/>
          </a:xfrm>
        </p:spPr>
        <p:txBody>
          <a:bodyPr lIns="0" tIns="0" rIns="0" bIns="0" anchor="ctr"/>
          <a:lstStyle/>
          <a:p>
            <a:r>
              <a:t>종합 견적 및 결제 안내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2" y="6474508"/>
            <a:ext cx="640080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3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프로젝트</a:t>
            </a:r>
            <a:r>
              <a:rPr sz="13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: </a:t>
            </a:r>
            <a:r>
              <a:rPr sz="13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다나음 정형외과</a:t>
            </a:r>
            <a:r>
              <a:rPr sz="13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  | </a:t>
            </a:r>
            <a:r>
              <a:rPr lang="ko-KR" altLang="en-US" sz="13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무아디자인</a:t>
            </a:r>
            <a:r>
              <a:rPr lang="ko-KR" altLang="en-US" sz="13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협력업체</a:t>
            </a:r>
            <a:endParaRPr sz="13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57200" y="1325880"/>
            <a:ext cx="5532120" cy="4800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A2C69"/>
                </a:solidFill>
                <a:latin typeface="맑은 고딕"/>
                <a:ea typeface="맑은 고딕"/>
                <a:cs typeface="맑은 고딕"/>
              </a:rPr>
              <a:t>월 이용료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46304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>
                <a:solidFill>
                  <a:srgbClr val="8A97AB"/>
                </a:solidFill>
                <a:latin typeface="맑은 고딕"/>
                <a:ea typeface="맑은 고딕"/>
                <a:cs typeface="맑은 고딕"/>
              </a:rPr>
              <a:t>약정 36개월 · VAT 별도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74519"/>
            <a:ext cx="4983480" cy="329184"/>
          </a:xfrm>
          <a:prstGeom prst="rect">
            <a:avLst/>
          </a:prstGeom>
          <a:solidFill>
            <a:srgbClr val="0A2C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874519"/>
            <a:ext cx="330555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1396" y="1874519"/>
            <a:ext cx="131216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월 요금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203703"/>
            <a:ext cx="330555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보안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1396" y="2203703"/>
            <a:ext cx="131216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160,000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31520" y="2532887"/>
            <a:ext cx="4983480" cy="0"/>
          </a:xfrm>
          <a:prstGeom prst="line">
            <a:avLst/>
          </a:prstGeom>
          <a:ln w="9525">
            <a:solidFill>
              <a:srgbClr val="E3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2532887"/>
            <a:ext cx="330555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통신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11396" y="2532887"/>
            <a:ext cx="131216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102,000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31520" y="2862071"/>
            <a:ext cx="4983480" cy="0"/>
          </a:xfrm>
          <a:prstGeom prst="line">
            <a:avLst/>
          </a:prstGeom>
          <a:ln w="9525">
            <a:solidFill>
              <a:srgbClr val="E3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22960" y="2862071"/>
            <a:ext cx="330555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가전 렌탈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1396" y="2862071"/>
            <a:ext cx="131216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161,114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31520" y="3191255"/>
            <a:ext cx="4983480" cy="0"/>
          </a:xfrm>
          <a:prstGeom prst="line">
            <a:avLst/>
          </a:prstGeom>
          <a:ln w="9525">
            <a:solidFill>
              <a:srgbClr val="E3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22960" y="3191255"/>
            <a:ext cx="330555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프린트 렌탈 (흑백레이저 · 컬러복합기)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11396" y="3191255"/>
            <a:ext cx="131216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70,000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31520" y="3520439"/>
            <a:ext cx="4983480" cy="0"/>
          </a:xfrm>
          <a:prstGeom prst="line">
            <a:avLst/>
          </a:prstGeom>
          <a:ln w="9525">
            <a:solidFill>
              <a:srgbClr val="E3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731520" y="3557015"/>
            <a:ext cx="4983480" cy="384048"/>
          </a:xfrm>
          <a:prstGeom prst="rect">
            <a:avLst/>
          </a:prstGeom>
          <a:solidFill>
            <a:srgbClr val="DCE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1248" y="3557015"/>
            <a:ext cx="299008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0A2C69"/>
                </a:solidFill>
                <a:latin typeface="맑은 고딕"/>
                <a:ea typeface="맑은 고딕"/>
                <a:cs typeface="맑은 고딕"/>
              </a:rPr>
              <a:t>월 합계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24912" y="3557015"/>
            <a:ext cx="28803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300" b="1">
                <a:solidFill>
                  <a:srgbClr val="1748B1"/>
                </a:solidFill>
                <a:latin typeface="맑은 고딕"/>
                <a:ea typeface="맑은 고딕"/>
                <a:cs typeface="맑은 고딕"/>
              </a:rPr>
              <a:t>493,114원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032503"/>
            <a:ext cx="4983480" cy="141732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4123943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748B1"/>
                </a:solidFill>
                <a:latin typeface="맑은 고딕"/>
                <a:ea typeface="맑은 고딕"/>
                <a:cs typeface="맑은 고딕"/>
              </a:rPr>
              <a:t>이번 견적에 포함된 핸드쉐이크 지원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416551"/>
            <a:ext cx="46177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1">
                <a:solidFill>
                  <a:srgbClr val="1748B1"/>
                </a:solidFill>
                <a:latin typeface="맑은 고딕"/>
                <a:ea typeface="맑은 고딕"/>
                <a:cs typeface="맑은 고딕"/>
              </a:rPr>
              <a:t>✓  </a:t>
            </a:r>
            <a:r>
              <a:rPr sz="1050" b="1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네트워크 장비 1,180,000원 상당 무상 지원</a:t>
            </a:r>
            <a:r>
              <a:rPr sz="950" b="0">
                <a:solidFill>
                  <a:srgbClr val="8A97AB"/>
                </a:solidFill>
                <a:latin typeface="맑은 고딕"/>
                <a:ea typeface="맑은 고딕"/>
                <a:cs typeface="맑은 고딕"/>
              </a:rPr>
              <a:t>  공사 공임 무상 · 평생 방문 AS</a:t>
            </a:r>
          </a:p>
          <a:p>
            <a:pPr algn="l">
              <a:lnSpc>
                <a:spcPct val="145000"/>
              </a:lnSpc>
            </a:pPr>
            <a:r>
              <a:rPr sz="1050" b="1">
                <a:solidFill>
                  <a:srgbClr val="1748B1"/>
                </a:solidFill>
                <a:latin typeface="맑은 고딕"/>
                <a:ea typeface="맑은 고딕"/>
                <a:cs typeface="맑은 고딕"/>
              </a:rPr>
              <a:t>✓  </a:t>
            </a:r>
            <a:r>
              <a:rPr sz="1050" b="1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통신 설치비 100,000원 지원</a:t>
            </a:r>
          </a:p>
          <a:p>
            <a:pPr algn="l">
              <a:lnSpc>
                <a:spcPct val="145000"/>
              </a:lnSpc>
            </a:pPr>
            <a:r>
              <a:rPr sz="1050" b="1">
                <a:solidFill>
                  <a:srgbClr val="1748B1"/>
                </a:solidFill>
                <a:latin typeface="맑은 고딕"/>
                <a:ea typeface="맑은 고딕"/>
                <a:cs typeface="맑은 고딕"/>
              </a:rPr>
              <a:t>✓  </a:t>
            </a:r>
            <a:r>
              <a:rPr sz="1050" b="1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보안 설치비 전액 면제</a:t>
            </a:r>
            <a:r>
              <a:rPr sz="950" b="0">
                <a:solidFill>
                  <a:srgbClr val="8A97AB"/>
                </a:solidFill>
                <a:latin typeface="맑은 고딕"/>
                <a:ea typeface="맑은 고딕"/>
                <a:cs typeface="맑은 고딕"/>
              </a:rPr>
              <a:t>  녹화기간 연장 · 근태관리 · 비상벨 서비스</a:t>
            </a:r>
          </a:p>
          <a:p>
            <a:pPr algn="l">
              <a:lnSpc>
                <a:spcPct val="145000"/>
              </a:lnSpc>
            </a:pPr>
            <a:r>
              <a:rPr sz="1050" b="1">
                <a:solidFill>
                  <a:srgbClr val="1748B1"/>
                </a:solidFill>
                <a:latin typeface="맑은 고딕"/>
                <a:ea typeface="맑은 고딕"/>
                <a:cs typeface="맑은 고딕"/>
              </a:rPr>
              <a:t>✓  </a:t>
            </a:r>
            <a:r>
              <a:rPr sz="1050" b="1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가전 렌탈 연계 구매 할인 1,000,000원 · 세탁건조기 이전 서비스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559552"/>
            <a:ext cx="4983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>
                <a:solidFill>
                  <a:srgbClr val="0A2C69"/>
                </a:solidFill>
                <a:latin typeface="맑은 고딕"/>
                <a:ea typeface="맑은 고딕"/>
                <a:cs typeface="맑은 고딕"/>
              </a:rPr>
              <a:t>부가 서비스  </a:t>
            </a:r>
            <a:r>
              <a:rPr sz="950" b="0">
                <a:solidFill>
                  <a:srgbClr val="4B5F77"/>
                </a:solidFill>
                <a:latin typeface="맑은 고딕"/>
                <a:ea typeface="맑은 고딕"/>
                <a:cs typeface="맑은 고딕"/>
              </a:rPr>
              <a:t>의료폐기물 구독 월 50,000원 (면세 · 실적 정산 · 니들통 지원)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1325880"/>
            <a:ext cx="546811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37959" y="146304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A2C69"/>
                </a:solidFill>
                <a:latin typeface="맑은 고딕"/>
                <a:ea typeface="맑은 고딕"/>
                <a:cs typeface="맑은 고딕"/>
              </a:rPr>
              <a:t>구매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9640" y="1463040"/>
            <a:ext cx="290779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>
                <a:solidFill>
                  <a:srgbClr val="8A97AB"/>
                </a:solidFill>
                <a:latin typeface="맑은 고딕"/>
                <a:ea typeface="맑은 고딕"/>
                <a:cs typeface="맑은 고딕"/>
              </a:rPr>
              <a:t>VAT 별도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37959" y="1828800"/>
            <a:ext cx="4919472" cy="274320"/>
          </a:xfrm>
          <a:prstGeom prst="rect">
            <a:avLst/>
          </a:prstGeom>
          <a:solidFill>
            <a:srgbClr val="0A2C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629399" y="1828800"/>
            <a:ext cx="326075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73030" y="1828800"/>
            <a:ext cx="129296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금액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399" y="2103120"/>
            <a:ext cx="326075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네트워크 (무상설치 · 무상보증)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73030" y="2103120"/>
            <a:ext cx="129296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50" b="1">
                <a:solidFill>
                  <a:srgbClr val="1748B1"/>
                </a:solidFill>
                <a:latin typeface="맑은 고딕"/>
                <a:ea typeface="맑은 고딕"/>
                <a:cs typeface="맑은 고딕"/>
              </a:rPr>
              <a:t>0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537959" y="2377439"/>
            <a:ext cx="4919473" cy="0"/>
          </a:xfrm>
          <a:prstGeom prst="line">
            <a:avLst/>
          </a:prstGeom>
          <a:ln w="9525">
            <a:solidFill>
              <a:srgbClr val="E3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629399" y="2377439"/>
            <a:ext cx="326075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PC · 주변기기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73030" y="2377439"/>
            <a:ext cx="129296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5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18,000,000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537959" y="2651759"/>
            <a:ext cx="4919473" cy="0"/>
          </a:xfrm>
          <a:prstGeom prst="line">
            <a:avLst/>
          </a:prstGeom>
          <a:ln w="9525">
            <a:solidFill>
              <a:srgbClr val="E3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629399" y="2651759"/>
            <a:ext cx="326075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가전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73030" y="2651759"/>
            <a:ext cx="129296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5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5,890,000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537959" y="2926079"/>
            <a:ext cx="4919473" cy="0"/>
          </a:xfrm>
          <a:prstGeom prst="line">
            <a:avLst/>
          </a:prstGeom>
          <a:ln w="9525">
            <a:solidFill>
              <a:srgbClr val="E3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6537959" y="2962655"/>
            <a:ext cx="4919472" cy="329184"/>
          </a:xfrm>
          <a:prstGeom prst="rect">
            <a:avLst/>
          </a:prstGeom>
          <a:solidFill>
            <a:srgbClr val="DCE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647688" y="2962655"/>
            <a:ext cx="2951683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A2C69"/>
                </a:solidFill>
                <a:latin typeface="맑은 고딕"/>
                <a:ea typeface="맑은 고딕"/>
                <a:cs typeface="맑은 고딕"/>
              </a:rPr>
              <a:t>구매 합계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05748" y="2962655"/>
            <a:ext cx="2841955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50" b="1">
                <a:solidFill>
                  <a:srgbClr val="1748B1"/>
                </a:solidFill>
                <a:latin typeface="맑은 고딕"/>
                <a:ea typeface="맑은 고딕"/>
                <a:cs typeface="맑은 고딕"/>
              </a:rPr>
              <a:t>23,890,000원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63640" y="3794760"/>
            <a:ext cx="5468112" cy="2331720"/>
          </a:xfrm>
          <a:prstGeom prst="roundRect">
            <a:avLst>
              <a:gd name="adj" fmla="val 6000"/>
            </a:avLst>
          </a:prstGeom>
          <a:solidFill>
            <a:srgbClr val="0A2C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537959" y="3904487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결제 일정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49640" y="3904487"/>
            <a:ext cx="290779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>
                <a:solidFill>
                  <a:srgbClr val="C8D6F0"/>
                </a:solidFill>
                <a:latin typeface="맑은 고딕"/>
                <a:ea typeface="맑은 고딕"/>
                <a:cs typeface="맑은 고딕"/>
              </a:rPr>
              <a:t>VAT 포함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7959" y="431596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PC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60919" y="431596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계약금 80%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41080" y="431596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C8D6F0"/>
                </a:solidFill>
                <a:latin typeface="맑은 고딕"/>
                <a:ea typeface="맑은 고딕"/>
                <a:cs typeface="맑은 고딕"/>
              </a:rPr>
              <a:t>계약 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829800" y="4315968"/>
            <a:ext cx="162763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15,840,000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60919" y="459028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잔금 20%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41080" y="459028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C8D6F0"/>
                </a:solidFill>
                <a:latin typeface="맑은 고딕"/>
                <a:ea typeface="맑은 고딕"/>
                <a:cs typeface="맑은 고딕"/>
              </a:rPr>
              <a:t>납품 7일 후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829800" y="4590288"/>
            <a:ext cx="162763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3,960,000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37959" y="497433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가전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60919" y="4974336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중도금 100%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41080" y="4974336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C8D6F0"/>
                </a:solidFill>
                <a:latin typeface="맑은 고딕"/>
                <a:ea typeface="맑은 고딕"/>
                <a:cs typeface="맑은 고딕"/>
              </a:rPr>
              <a:t>납품 15일 전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829800" y="4974336"/>
            <a:ext cx="162763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6,479,000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6537959" y="5596128"/>
            <a:ext cx="4919473" cy="0"/>
          </a:xfrm>
          <a:prstGeom prst="line">
            <a:avLst/>
          </a:prstGeom>
          <a:ln w="9525">
            <a:solidFill>
              <a:srgbClr val="2A4E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6537959" y="5650992"/>
            <a:ext cx="491947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C8D6F0"/>
                </a:solidFill>
                <a:latin typeface="맑은 고딕"/>
                <a:ea typeface="맑은 고딕"/>
                <a:cs typeface="맑은 고딕"/>
              </a:rPr>
              <a:t>입금계좌  </a:t>
            </a:r>
            <a:r>
              <a: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기업은행 284-089687-04-054  주식회사 핸드쉐이크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457200" y="329184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1748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Text Placeholder 1"/>
          <p:cNvSpPr>
            <a:spLocks noGrp="1"/>
          </p:cNvSpPr>
          <p:nvPr>
            <p:ph type="body" idx="104"/>
          </p:nvPr>
        </p:nvSpPr>
        <p:spPr>
          <a:xfrm>
            <a:off x="457200" y="329184"/>
            <a:ext cx="1737360" cy="347472"/>
          </a:xfrm>
        </p:spPr>
        <p:txBody>
          <a:bodyPr lIns="0" tIns="0" rIns="0" bIns="0" anchor="ctr"/>
          <a:lstStyle/>
          <a:p>
            <a:r>
              <a:t>진행 절차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5"/>
          </p:nvPr>
        </p:nvSpPr>
        <p:spPr>
          <a:xfrm>
            <a:off x="457200" y="731520"/>
            <a:ext cx="8686800" cy="548640"/>
          </a:xfrm>
        </p:spPr>
        <p:txBody>
          <a:bodyPr lIns="0" tIns="0" rIns="0" bIns="0" anchor="ctr"/>
          <a:lstStyle/>
          <a:p>
            <a:r>
              <a:t>계약 및 납품 절차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2" y="643737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프로젝트 : 다나음 정형외과   |   무아디자인 협력업체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25880"/>
            <a:ext cx="11274552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463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0A2C69"/>
                </a:solidFill>
                <a:latin typeface="맑은 고딕"/>
                <a:ea typeface="맑은 고딕"/>
                <a:cs typeface="맑은 고딕"/>
              </a:rPr>
              <a:t>구비서류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0" y="1499616"/>
            <a:ext cx="1014984" cy="347472"/>
          </a:xfrm>
          <a:prstGeom prst="roundRect">
            <a:avLst>
              <a:gd name="adj" fmla="val 50000"/>
            </a:avLst>
          </a:prstGeom>
          <a:solidFill>
            <a:srgbClr val="DCE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0">
                <a:solidFill>
                  <a:srgbClr val="0A2C69"/>
                </a:solidFill>
                <a:latin typeface="맑은 고딕"/>
                <a:ea typeface="맑은 고딕"/>
                <a:cs typeface="맑은 고딕"/>
              </a:rPr>
              <a:t>사업자등록증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63824" y="1499616"/>
            <a:ext cx="644652" cy="347472"/>
          </a:xfrm>
          <a:prstGeom prst="roundRect">
            <a:avLst>
              <a:gd name="adj" fmla="val 50000"/>
            </a:avLst>
          </a:prstGeom>
          <a:solidFill>
            <a:srgbClr val="DCE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0">
                <a:solidFill>
                  <a:srgbClr val="0A2C69"/>
                </a:solidFill>
                <a:latin typeface="맑은 고딕"/>
                <a:ea typeface="맑은 고딕"/>
                <a:cs typeface="맑은 고딕"/>
              </a:rPr>
              <a:t>신분증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45636" y="1499616"/>
            <a:ext cx="2002536" cy="347472"/>
          </a:xfrm>
          <a:prstGeom prst="roundRect">
            <a:avLst>
              <a:gd name="adj" fmla="val 50000"/>
            </a:avLst>
          </a:prstGeom>
          <a:solidFill>
            <a:srgbClr val="DCE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0">
                <a:solidFill>
                  <a:srgbClr val="0A2C69"/>
                </a:solidFill>
                <a:latin typeface="맑은 고딕"/>
                <a:ea typeface="맑은 고딕"/>
                <a:cs typeface="맑은 고딕"/>
              </a:rPr>
              <a:t>통장사본 또는 카드 앞뒷면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5332" y="1499616"/>
            <a:ext cx="644652" cy="347472"/>
          </a:xfrm>
          <a:prstGeom prst="roundRect">
            <a:avLst>
              <a:gd name="adj" fmla="val 50000"/>
            </a:avLst>
          </a:prstGeom>
          <a:solidFill>
            <a:srgbClr val="DCE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0">
                <a:solidFill>
                  <a:srgbClr val="0A2C69"/>
                </a:solidFill>
                <a:latin typeface="맑은 고딕"/>
                <a:ea typeface="맑은 고딕"/>
                <a:cs typeface="맑은 고딕"/>
              </a:rPr>
              <a:t>이메일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67144" y="1499616"/>
            <a:ext cx="1261872" cy="347472"/>
          </a:xfrm>
          <a:prstGeom prst="roundRect">
            <a:avLst>
              <a:gd name="adj" fmla="val 50000"/>
            </a:avLst>
          </a:prstGeom>
          <a:solidFill>
            <a:srgbClr val="DCE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0">
                <a:solidFill>
                  <a:srgbClr val="0A2C69"/>
                </a:solidFill>
                <a:latin typeface="맑은 고딕"/>
                <a:ea typeface="맑은 고딕"/>
                <a:cs typeface="맑은 고딕"/>
              </a:rPr>
              <a:t>현장소장 연락처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66176" y="1499616"/>
            <a:ext cx="1138428" cy="347472"/>
          </a:xfrm>
          <a:prstGeom prst="roundRect">
            <a:avLst>
              <a:gd name="adj" fmla="val 50000"/>
            </a:avLst>
          </a:prstGeom>
          <a:solidFill>
            <a:srgbClr val="DCE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0">
                <a:solidFill>
                  <a:srgbClr val="0A2C69"/>
                </a:solidFill>
                <a:latin typeface="맑은 고딕"/>
                <a:ea typeface="맑은 고딕"/>
                <a:cs typeface="맑은 고딕"/>
              </a:rPr>
              <a:t>대표자 연락처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0080" y="2395728"/>
            <a:ext cx="10908792" cy="0"/>
          </a:xfrm>
          <a:prstGeom prst="line">
            <a:avLst/>
          </a:prstGeom>
          <a:ln w="25400">
            <a:solidFill>
              <a:srgbClr val="C8D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296785" y="2276856"/>
            <a:ext cx="237744" cy="237744"/>
          </a:xfrm>
          <a:prstGeom prst="ellipse">
            <a:avLst/>
          </a:prstGeom>
          <a:solidFill>
            <a:srgbClr val="1748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57200" y="2697480"/>
            <a:ext cx="1916914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/>
          </a:p>
        </p:txBody>
      </p:sp>
      <p:sp>
        <p:nvSpPr>
          <p:cNvPr id="17" name="Rounded Rectangle 16"/>
          <p:cNvSpPr/>
          <p:nvPr/>
        </p:nvSpPr>
        <p:spPr>
          <a:xfrm>
            <a:off x="640080" y="2862072"/>
            <a:ext cx="640080" cy="274320"/>
          </a:xfrm>
          <a:prstGeom prst="roundRect">
            <a:avLst>
              <a:gd name="adj" fmla="val 50000"/>
            </a:avLst>
          </a:prstGeom>
          <a:solidFill>
            <a:srgbClr val="DCE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1">
                <a:solidFill>
                  <a:srgbClr val="1748B1"/>
                </a:solidFill>
                <a:latin typeface="맑은 고딕"/>
                <a:ea typeface="맑은 고딕"/>
                <a:cs typeface="맑은 고딕"/>
              </a:rPr>
              <a:t>계약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200400"/>
            <a:ext cx="1551154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A2C69"/>
                </a:solidFill>
                <a:latin typeface="맑은 고딕"/>
                <a:ea typeface="맑은 고딕"/>
                <a:cs typeface="맑은 고딕"/>
              </a:rPr>
              <a:t>착공 후 D+7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0080" y="3776472"/>
            <a:ext cx="1551154" cy="0"/>
          </a:xfrm>
          <a:prstGeom prst="line">
            <a:avLst/>
          </a:prstGeom>
          <a:ln w="9525">
            <a:solidFill>
              <a:srgbClr val="E3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0080" y="3886200"/>
            <a:ext cx="155115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748B1"/>
                </a:solidFill>
                <a:latin typeface="맑은 고딕"/>
                <a:ea typeface="맑은 고딕"/>
                <a:cs typeface="맑은 고딕"/>
              </a:rPr>
              <a:t>통신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114800"/>
            <a:ext cx="155115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인터넷 전자계약서 발송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581144"/>
            <a:ext cx="155115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dirty="0" err="1">
                <a:solidFill>
                  <a:srgbClr val="1748B1"/>
                </a:solidFill>
                <a:latin typeface="맑은 고딕"/>
                <a:ea typeface="맑은 고딕"/>
                <a:cs typeface="맑은 고딕"/>
              </a:rPr>
              <a:t>보안</a:t>
            </a:r>
            <a:endParaRPr sz="1000" b="1" dirty="0">
              <a:solidFill>
                <a:srgbClr val="1748B1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0080" y="4809744"/>
            <a:ext cx="1551154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전자계약서 발송</a:t>
            </a:r>
          </a:p>
        </p:txBody>
      </p:sp>
      <p:sp>
        <p:nvSpPr>
          <p:cNvPr id="24" name="Oval 23"/>
          <p:cNvSpPr/>
          <p:nvPr/>
        </p:nvSpPr>
        <p:spPr>
          <a:xfrm>
            <a:off x="3540348" y="2276856"/>
            <a:ext cx="237744" cy="237744"/>
          </a:xfrm>
          <a:prstGeom prst="ellipse">
            <a:avLst/>
          </a:prstGeom>
          <a:solidFill>
            <a:srgbClr val="1748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2556994" y="2697480"/>
            <a:ext cx="2204452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2739874" y="2862072"/>
            <a:ext cx="640080" cy="274320"/>
          </a:xfrm>
          <a:prstGeom prst="roundRect">
            <a:avLst>
              <a:gd name="adj" fmla="val 50000"/>
            </a:avLst>
          </a:prstGeom>
          <a:solidFill>
            <a:srgbClr val="DCE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1">
                <a:solidFill>
                  <a:srgbClr val="1748B1"/>
                </a:solidFill>
                <a:latin typeface="맑은 고딕"/>
                <a:ea typeface="맑은 고딕"/>
                <a:cs typeface="맑은 고딕"/>
              </a:rPr>
              <a:t>계약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39874" y="3200400"/>
            <a:ext cx="1838692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A2C69"/>
                </a:solidFill>
                <a:latin typeface="맑은 고딕"/>
                <a:ea typeface="맑은 고딕"/>
                <a:cs typeface="맑은 고딕"/>
              </a:rPr>
              <a:t>착공 시
~ 납품 D-10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739874" y="3776472"/>
            <a:ext cx="1838693" cy="0"/>
          </a:xfrm>
          <a:prstGeom prst="line">
            <a:avLst/>
          </a:prstGeom>
          <a:ln w="9525">
            <a:solidFill>
              <a:srgbClr val="E3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739874" y="3886200"/>
            <a:ext cx="183869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748B1"/>
                </a:solidFill>
                <a:latin typeface="맑은 고딕"/>
                <a:ea typeface="맑은 고딕"/>
                <a:cs typeface="맑은 고딕"/>
              </a:rPr>
              <a:t>통신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39874" y="4114800"/>
            <a:ext cx="1838692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네트워크 · PC 공급계약서 발송 (착공 시)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39874" y="4581144"/>
            <a:ext cx="183869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dirty="0" err="1">
                <a:solidFill>
                  <a:srgbClr val="1748B1"/>
                </a:solidFill>
                <a:latin typeface="맑은 고딕"/>
                <a:ea typeface="맑은 고딕"/>
                <a:cs typeface="맑은 고딕"/>
              </a:rPr>
              <a:t>가전</a:t>
            </a:r>
            <a:endParaRPr sz="1000" b="1" dirty="0">
              <a:solidFill>
                <a:srgbClr val="1748B1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739874" y="4818888"/>
            <a:ext cx="1838692" cy="1747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dirty="0" err="1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구매</a:t>
            </a:r>
            <a:r>
              <a:rPr sz="1050" b="0" dirty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공급계약서</a:t>
            </a:r>
            <a:r>
              <a:rPr sz="1050" b="0" dirty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발송
(납품 D-15 ~ D-10)</a:t>
            </a:r>
            <a:endParaRPr sz="1050" b="0" dirty="0">
              <a:solidFill>
                <a:srgbClr val="06215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5640143" y="2276856"/>
            <a:ext cx="237744" cy="237744"/>
          </a:xfrm>
          <a:prstGeom prst="ellipse">
            <a:avLst/>
          </a:prstGeom>
          <a:solidFill>
            <a:srgbClr val="0A2C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4944327" y="2697480"/>
            <a:ext cx="1629377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5127207" y="2862072"/>
            <a:ext cx="640080" cy="274320"/>
          </a:xfrm>
          <a:prstGeom prst="roundRect">
            <a:avLst>
              <a:gd name="adj" fmla="val 50000"/>
            </a:avLst>
          </a:prstGeom>
          <a:solidFill>
            <a:srgbClr val="0A2C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납품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7207" y="3200400"/>
            <a:ext cx="1263617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A2C69"/>
                </a:solidFill>
                <a:latin typeface="맑은 고딕"/>
                <a:ea typeface="맑은 고딕"/>
                <a:cs typeface="맑은 고딕"/>
              </a:rPr>
              <a:t>준공청소 D-1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127207" y="3776472"/>
            <a:ext cx="1263617" cy="0"/>
          </a:xfrm>
          <a:prstGeom prst="line">
            <a:avLst/>
          </a:prstGeom>
          <a:ln w="9525">
            <a:solidFill>
              <a:srgbClr val="E3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127207" y="3886200"/>
            <a:ext cx="126361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748B1"/>
                </a:solidFill>
                <a:latin typeface="맑은 고딕"/>
                <a:ea typeface="맑은 고딕"/>
                <a:cs typeface="맑은 고딕"/>
              </a:rPr>
              <a:t>보안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7207" y="4114800"/>
            <a:ext cx="1263617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CCTV 부착</a:t>
            </a:r>
          </a:p>
        </p:txBody>
      </p:sp>
      <p:sp>
        <p:nvSpPr>
          <p:cNvPr id="40" name="Oval 39"/>
          <p:cNvSpPr/>
          <p:nvPr/>
        </p:nvSpPr>
        <p:spPr>
          <a:xfrm>
            <a:off x="8123321" y="2276856"/>
            <a:ext cx="237744" cy="237744"/>
          </a:xfrm>
          <a:prstGeom prst="ellipse">
            <a:avLst/>
          </a:prstGeom>
          <a:solidFill>
            <a:srgbClr val="0A2C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6756584" y="2697480"/>
            <a:ext cx="2971218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6939464" y="2862072"/>
            <a:ext cx="640080" cy="274320"/>
          </a:xfrm>
          <a:prstGeom prst="roundRect">
            <a:avLst>
              <a:gd name="adj" fmla="val 50000"/>
            </a:avLst>
          </a:prstGeom>
          <a:solidFill>
            <a:srgbClr val="0A2C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납품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39464" y="3200400"/>
            <a:ext cx="260545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A2C69"/>
                </a:solidFill>
                <a:latin typeface="맑은 고딕"/>
                <a:ea typeface="맑은 고딕"/>
                <a:cs typeface="맑은 고딕"/>
              </a:rPr>
              <a:t>준공청소 D+1 ~ D+2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939464" y="3776472"/>
            <a:ext cx="2605458" cy="0"/>
          </a:xfrm>
          <a:prstGeom prst="line">
            <a:avLst/>
          </a:prstGeom>
          <a:ln w="9525">
            <a:solidFill>
              <a:srgbClr val="E3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939464" y="3886200"/>
            <a:ext cx="260545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748B1"/>
                </a:solidFill>
                <a:latin typeface="맑은 고딕"/>
                <a:ea typeface="맑은 고딕"/>
                <a:cs typeface="맑은 고딕"/>
              </a:rPr>
              <a:t>통신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39464" y="4114800"/>
            <a:ext cx="2605458" cy="562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dirty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D+1  </a:t>
            </a:r>
            <a:r>
              <a:rPr sz="1050" b="0" dirty="0" err="1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책상</a:t>
            </a:r>
            <a:r>
              <a:rPr sz="1050" b="0" dirty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입고</a:t>
            </a:r>
            <a:r>
              <a:rPr sz="1050" b="0" dirty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
D+2  </a:t>
            </a:r>
            <a:r>
              <a:rPr sz="1050" b="0" dirty="0" err="1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오전</a:t>
            </a:r>
            <a:r>
              <a:rPr sz="1050" b="0" dirty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네트워크</a:t>
            </a:r>
            <a:r>
              <a:rPr sz="1050" b="0" dirty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050" dirty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작업</a:t>
            </a:r>
            <a:r>
              <a:rPr sz="1050" b="0" dirty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
D+2  </a:t>
            </a:r>
            <a:r>
              <a:rPr sz="1050" b="0" dirty="0" err="1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오후</a:t>
            </a:r>
            <a:r>
              <a:rPr sz="1050" b="0" dirty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인터넷</a:t>
            </a:r>
            <a:r>
              <a:rPr sz="1050" b="0" dirty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 · </a:t>
            </a:r>
            <a:r>
              <a:rPr sz="1050" b="0" dirty="0" err="1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전화</a:t>
            </a:r>
            <a:r>
              <a:rPr sz="1050" b="0" dirty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개통</a:t>
            </a:r>
            <a:r>
              <a:rPr sz="1050" b="0" dirty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, PC </a:t>
            </a:r>
            <a:r>
              <a:rPr sz="1050" b="0" dirty="0" err="1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설치</a:t>
            </a:r>
            <a:endParaRPr sz="1050" b="0" dirty="0">
              <a:solidFill>
                <a:srgbClr val="06215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939464" y="4928616"/>
            <a:ext cx="260545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748B1"/>
                </a:solidFill>
                <a:latin typeface="맑은 고딕"/>
                <a:ea typeface="맑은 고딕"/>
                <a:cs typeface="맑은 고딕"/>
              </a:rPr>
              <a:t>보안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39464" y="5157216"/>
            <a:ext cx="260545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D+1  경비 개시 · 원장님 · 소장님 보안키 인계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39464" y="5623560"/>
            <a:ext cx="260545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748B1"/>
                </a:solidFill>
                <a:latin typeface="맑은 고딕"/>
                <a:ea typeface="맑은 고딕"/>
                <a:cs typeface="맑은 고딕"/>
              </a:rPr>
              <a:t>가전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39464" y="5852160"/>
            <a:ext cx="2605458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PC 입고일 ~ D+5 기기 입고</a:t>
            </a:r>
          </a:p>
        </p:txBody>
      </p:sp>
      <p:sp>
        <p:nvSpPr>
          <p:cNvPr id="51" name="Oval 50"/>
          <p:cNvSpPr/>
          <p:nvPr/>
        </p:nvSpPr>
        <p:spPr>
          <a:xfrm>
            <a:off x="10702345" y="2276856"/>
            <a:ext cx="237744" cy="237744"/>
          </a:xfrm>
          <a:prstGeom prst="ellipse">
            <a:avLst/>
          </a:prstGeom>
          <a:solidFill>
            <a:srgbClr val="0A2C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9910682" y="2697480"/>
            <a:ext cx="1821069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10093562" y="2862072"/>
            <a:ext cx="640080" cy="274320"/>
          </a:xfrm>
          <a:prstGeom prst="roundRect">
            <a:avLst>
              <a:gd name="adj" fmla="val 50000"/>
            </a:avLst>
          </a:prstGeom>
          <a:solidFill>
            <a:srgbClr val="0A2C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납품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93562" y="3200400"/>
            <a:ext cx="1455309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A2C69"/>
                </a:solidFill>
                <a:latin typeface="맑은 고딕"/>
                <a:ea typeface="맑은 고딕"/>
                <a:cs typeface="맑은 고딕"/>
              </a:rPr>
              <a:t>준공청소 D+3 ~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10093562" y="3776472"/>
            <a:ext cx="1455310" cy="0"/>
          </a:xfrm>
          <a:prstGeom prst="line">
            <a:avLst/>
          </a:prstGeom>
          <a:ln w="9525">
            <a:solidFill>
              <a:srgbClr val="E3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10093562" y="3886200"/>
            <a:ext cx="145530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748B1"/>
                </a:solidFill>
                <a:latin typeface="맑은 고딕"/>
                <a:ea typeface="맑은 고딕"/>
                <a:cs typeface="맑은 고딕"/>
              </a:rPr>
              <a:t>통신 · 보안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093562" y="4114800"/>
            <a:ext cx="1455309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D+3
프린트 · 복합기 설치
원장님 협의일
지문 · 근태 · 앱 셋팅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9A1B22C-9E8B-406B-A5B9-2252A12F4963}"/>
              </a:ext>
            </a:extLst>
          </p:cNvPr>
          <p:cNvSpPr txBox="1"/>
          <p:nvPr/>
        </p:nvSpPr>
        <p:spPr>
          <a:xfrm>
            <a:off x="643406" y="5239512"/>
            <a:ext cx="1551154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000" b="1" dirty="0">
                <a:solidFill>
                  <a:srgbClr val="1748B1"/>
                </a:solidFill>
                <a:latin typeface="맑은 고딕"/>
                <a:ea typeface="맑은 고딕"/>
                <a:cs typeface="맑은 고딕"/>
              </a:rPr>
              <a:t>가전</a:t>
            </a:r>
            <a:endParaRPr sz="1000" b="1" dirty="0">
              <a:solidFill>
                <a:srgbClr val="1748B1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5C83ECD-7479-4B0C-9E8E-3C031D81383A}"/>
              </a:ext>
            </a:extLst>
          </p:cNvPr>
          <p:cNvSpPr txBox="1"/>
          <p:nvPr/>
        </p:nvSpPr>
        <p:spPr>
          <a:xfrm>
            <a:off x="643406" y="5468112"/>
            <a:ext cx="1551154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ko-KR" altLang="en-US" sz="1050" b="0" dirty="0" err="1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렌탈</a:t>
            </a:r>
            <a:r>
              <a:rPr sz="1050" b="0" dirty="0" err="1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전자계약서</a:t>
            </a:r>
            <a:r>
              <a:rPr sz="1050" b="0" dirty="0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062150"/>
                </a:solidFill>
                <a:latin typeface="맑은 고딕"/>
                <a:ea typeface="맑은 고딕"/>
                <a:cs typeface="맑은 고딕"/>
              </a:rPr>
              <a:t>발송</a:t>
            </a:r>
            <a:endParaRPr sz="1050" b="0" dirty="0">
              <a:solidFill>
                <a:srgbClr val="062150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C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062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137160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dirty="0">
                <a:solidFill>
                  <a:srgbClr val="C8D6F0"/>
                </a:solidFill>
                <a:latin typeface="맑은 고딕"/>
                <a:ea typeface="맑은 고딕"/>
                <a:cs typeface="맑은 고딕"/>
              </a:rPr>
              <a:t>WHY HANDSHAKE  ·  MOOA DESIGN PARTNER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783080"/>
            <a:ext cx="100584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병원 진료를 지키기 위해,</a:t>
            </a:r>
          </a:p>
          <a:p>
            <a:pPr algn="l">
              <a:lnSpc>
                <a:spcPct val="115000"/>
              </a:lnSpc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핸드쉐이크가 끝까지 책임지겠습니다.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207008" y="3520440"/>
            <a:ext cx="640080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88720" y="3749039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dirty="0" err="1">
                <a:solidFill>
                  <a:srgbClr val="C8D6F0"/>
                </a:solidFill>
                <a:latin typeface="맑은 고딕"/>
                <a:ea typeface="맑은 고딕"/>
                <a:cs typeface="맑은 고딕"/>
              </a:rPr>
              <a:t>무아디자인과</a:t>
            </a:r>
            <a:r>
              <a:rPr sz="1500" b="0" dirty="0">
                <a:solidFill>
                  <a:srgbClr val="C8D6F0"/>
                </a:solidFill>
                <a:latin typeface="맑은 고딕"/>
                <a:ea typeface="맑은 고딕"/>
                <a:cs typeface="맑은 고딕"/>
              </a:rPr>
              <a:t> 한 </a:t>
            </a:r>
            <a:r>
              <a:rPr sz="1500" b="0" dirty="0" err="1">
                <a:solidFill>
                  <a:srgbClr val="C8D6F0"/>
                </a:solidFill>
                <a:latin typeface="맑은 고딕"/>
                <a:ea typeface="맑은 고딕"/>
                <a:cs typeface="맑은 고딕"/>
              </a:rPr>
              <a:t>팀으로</a:t>
            </a:r>
            <a:r>
              <a:rPr sz="1500" b="0" dirty="0">
                <a:solidFill>
                  <a:srgbClr val="C8D6F0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1500" b="0" dirty="0" err="1">
                <a:solidFill>
                  <a:srgbClr val="C8D6F0"/>
                </a:solidFill>
                <a:latin typeface="맑은 고딕"/>
                <a:ea typeface="맑은 고딕"/>
                <a:cs typeface="맑은 고딕"/>
              </a:rPr>
              <a:t>통신</a:t>
            </a:r>
            <a:r>
              <a:rPr sz="1500" b="0" dirty="0">
                <a:solidFill>
                  <a:srgbClr val="C8D6F0"/>
                </a:solidFill>
                <a:latin typeface="맑은 고딕"/>
                <a:ea typeface="맑은 고딕"/>
                <a:cs typeface="맑은 고딕"/>
              </a:rPr>
              <a:t> · </a:t>
            </a:r>
            <a:r>
              <a:rPr sz="1500" b="0" dirty="0" err="1">
                <a:solidFill>
                  <a:srgbClr val="C8D6F0"/>
                </a:solidFill>
                <a:latin typeface="맑은 고딕"/>
                <a:ea typeface="맑은 고딕"/>
                <a:cs typeface="맑은 고딕"/>
              </a:rPr>
              <a:t>보안</a:t>
            </a:r>
            <a:r>
              <a:rPr sz="1500" b="0" dirty="0">
                <a:solidFill>
                  <a:srgbClr val="C8D6F0"/>
                </a:solidFill>
                <a:latin typeface="맑은 고딕"/>
                <a:ea typeface="맑은 고딕"/>
                <a:cs typeface="맑은 고딕"/>
              </a:rPr>
              <a:t> · </a:t>
            </a:r>
            <a:r>
              <a:rPr sz="1500" b="0" dirty="0" err="1">
                <a:solidFill>
                  <a:srgbClr val="C8D6F0"/>
                </a:solidFill>
                <a:latin typeface="맑은 고딕"/>
                <a:ea typeface="맑은 고딕"/>
                <a:cs typeface="맑은 고딕"/>
              </a:rPr>
              <a:t>가전을</a:t>
            </a:r>
            <a:r>
              <a:rPr sz="1500" b="0" dirty="0">
                <a:solidFill>
                  <a:srgbClr val="C8D6F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C8D6F0"/>
                </a:solidFill>
                <a:latin typeface="맑은 고딕"/>
                <a:ea typeface="맑은 고딕"/>
                <a:cs typeface="맑은 고딕"/>
              </a:rPr>
              <a:t>편리하게</a:t>
            </a:r>
            <a:r>
              <a:rPr sz="1500" b="0" dirty="0">
                <a:solidFill>
                  <a:srgbClr val="C8D6F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C8D6F0"/>
                </a:solidFill>
                <a:latin typeface="맑은 고딕"/>
                <a:ea typeface="맑은 고딕"/>
                <a:cs typeface="맑은 고딕"/>
              </a:rPr>
              <a:t>납품하고</a:t>
            </a:r>
            <a:r>
              <a:rPr sz="1500" b="0" dirty="0">
                <a:solidFill>
                  <a:srgbClr val="C8D6F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C8D6F0"/>
                </a:solidFill>
                <a:latin typeface="맑은 고딕"/>
                <a:ea typeface="맑은 고딕"/>
                <a:cs typeface="맑은 고딕"/>
              </a:rPr>
              <a:t>신속하게</a:t>
            </a:r>
            <a:r>
              <a:rPr sz="1500" b="0" dirty="0">
                <a:solidFill>
                  <a:srgbClr val="C8D6F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C8D6F0"/>
                </a:solidFill>
                <a:latin typeface="맑은 고딕"/>
                <a:ea typeface="맑은 고딕"/>
                <a:cs typeface="맑은 고딕"/>
              </a:rPr>
              <a:t>유지보수합니다</a:t>
            </a:r>
            <a:r>
              <a:rPr sz="1500" b="0" dirty="0">
                <a:solidFill>
                  <a:srgbClr val="C8D6F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84632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dirty="0">
                <a:solidFill>
                  <a:srgbClr val="C8D6F0"/>
                </a:solidFill>
                <a:latin typeface="맑은 고딕"/>
                <a:ea typeface="맑은 고딕"/>
                <a:cs typeface="맑은 고딕"/>
              </a:rPr>
              <a:t>M  </a:t>
            </a:r>
            <a:r>
              <a:rPr sz="15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010-2505-8589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484632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dirty="0">
                <a:solidFill>
                  <a:srgbClr val="C8D6F0"/>
                </a:solidFill>
                <a:latin typeface="맑은 고딕"/>
                <a:ea typeface="맑은 고딕"/>
                <a:cs typeface="맑은 고딕"/>
              </a:rPr>
              <a:t>T  </a:t>
            </a:r>
            <a:r>
              <a:rPr sz="15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02-523-8589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484632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dirty="0">
                <a:solidFill>
                  <a:srgbClr val="C8D6F0"/>
                </a:solidFill>
                <a:latin typeface="맑은 고딕"/>
                <a:ea typeface="맑은 고딕"/>
                <a:cs typeface="맑은 고딕"/>
              </a:rPr>
              <a:t>F  </a:t>
            </a:r>
            <a:r>
              <a:rPr sz="15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050-4268-1609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53492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C8D6F0"/>
                </a:solidFill>
                <a:latin typeface="맑은 고딕"/>
                <a:ea typeface="맑은 고딕"/>
                <a:cs typeface="맑은 고딕"/>
              </a:rPr>
              <a:t>주식회사 핸드쉐이크  ·  대표 안강훈  ·  사업자등록번호 278-87-02989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92640" y="4480560"/>
            <a:ext cx="1737360" cy="1737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3" name="Picture 12" descr="logo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4626864"/>
            <a:ext cx="914400" cy="144378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HandShake">
  <a:themeElements>
    <a:clrScheme name="HandShake">
      <a:dk1>
        <a:srgbClr val="062150"/>
      </a:dk1>
      <a:lt1>
        <a:srgbClr val="FFFFFF"/>
      </a:lt1>
      <a:dk2>
        <a:srgbClr val="0A2C69"/>
      </a:dk2>
      <a:lt2>
        <a:srgbClr val="F3F6FD"/>
      </a:lt2>
      <a:accent1>
        <a:srgbClr val="1748B1"/>
      </a:accent1>
      <a:accent2>
        <a:srgbClr val="0A2C69"/>
      </a:accent2>
      <a:accent3>
        <a:srgbClr val="4B5F77"/>
      </a:accent3>
      <a:accent4>
        <a:srgbClr val="DCE6F8"/>
      </a:accent4>
      <a:accent5>
        <a:srgbClr val="C8D6F0"/>
      </a:accent5>
      <a:accent6>
        <a:srgbClr val="E3E8F2"/>
      </a:accent6>
      <a:hlink>
        <a:srgbClr val="1748B1"/>
      </a:hlink>
      <a:folHlink>
        <a:srgbClr val="4B5F77"/>
      </a:folHlink>
    </a:clrScheme>
    <a:fontScheme name="HandShak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2157</Words>
  <Application>Microsoft Office PowerPoint</Application>
  <PresentationFormat>와이드스크린</PresentationFormat>
  <Paragraphs>478</Paragraphs>
  <Slides>16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9" baseType="lpstr">
      <vt:lpstr>맑은 고딕</vt:lpstr>
      <vt:lpstr>Arial</vt:lpstr>
      <vt:lpstr>HandShake</vt:lpstr>
      <vt:lpstr>PowerPoint 프레젠테이션</vt:lpstr>
      <vt:lpstr>무아디자인과 한 팀으로 개원을 준비합니다</vt:lpstr>
      <vt:lpstr>병원 진료를 지키는 하나의 파트너</vt:lpstr>
      <vt:lpstr>하나의 밸류체인으로, 안전하고 편리하게</vt:lpstr>
      <vt:lpstr>품목별로 더해지는 안심 장치</vt:lpstr>
      <vt:lpstr>통신 견적 요약</vt:lpstr>
      <vt:lpstr>설치 위치도</vt:lpstr>
      <vt:lpstr>인테리어는 흐트러뜨리지 않게, 병원은 지켜주는</vt:lpstr>
      <vt:lpstr>보안 견적 요약</vt:lpstr>
      <vt:lpstr>설치 위치도</vt:lpstr>
      <vt:lpstr>납기 및 사후관리를 책임지는</vt:lpstr>
      <vt:lpstr>가전 견적 요약</vt:lpstr>
      <vt:lpstr>설치 위치도</vt:lpstr>
      <vt:lpstr>종합 견적 및 결제 안내</vt:lpstr>
      <vt:lpstr>계약 및 납품 절차</vt:lpstr>
      <vt:lpstr>PowerPoint 프레젠테이션</vt:lpstr>
    </vt:vector>
  </TitlesOfParts>
  <Company>핸드쉐이크 주식회사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설치 위치도 양식</dc:title>
  <dc:subject>PptxGenJS Presentation</dc:subject>
  <dc:creator>핸드쉐이크</dc:creator>
  <cp:lastModifiedBy>핸드쉐이크 주식회사</cp:lastModifiedBy>
  <cp:revision>9</cp:revision>
  <dcterms:created xsi:type="dcterms:W3CDTF">2026-10-12T04:05:51Z</dcterms:created>
  <dcterms:modified xsi:type="dcterms:W3CDTF">2026-10-14T10:47:27Z</dcterms:modified>
</cp:coreProperties>
</file>